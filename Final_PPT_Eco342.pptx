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5143500" type="screen16x9"/>
  <p:notesSz cx="6858000" cy="9144000"/>
  <p:embeddedFontLst>
    <p:embeddedFont>
      <p:font typeface="Roboto"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f6dfc39345_2_7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f6dfc39345_2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2e3704478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2e37044782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2e37044782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2e37044782_0_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2e37044782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22e37044782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2e3704478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22e3704478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2e37044782_1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g22e37044782_1_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2e37044782_1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22e37044782_1_2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f6e40b05f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1f6e40b05f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2e37044782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2e37044782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186ac46069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186ac46069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185201e86a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185201e86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186ac46069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186ac46069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2e37044782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22e37044782_1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2e37044782_1_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22e37044782_1_4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2e37044782_1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22e37044782_1_4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186ac46069_1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186ac46069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186ac46069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186ac46069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184c182c3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184c182c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185201e86a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185201e86a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186ac46069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186ac46069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186ac46069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186ac46069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184c182c30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184c182c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185201e86a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185201e86a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184c182c30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184c182c30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185201e86a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185201e86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184c182c30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184c182c30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185201e86a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185201e86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184c182c30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184c182c3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185201e86a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185201e86a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186ac46069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186ac46069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186ac46069_1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2186ac46069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f6e4ea165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g1f6e4ea1650_1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6098378" y="5"/>
            <a:ext cx="3045625" cy="2030570"/>
            <a:chOff x="6098378" y="5"/>
            <a:chExt cx="3045625" cy="2030570"/>
          </a:xfrm>
        </p:grpSpPr>
        <p:sp>
          <p:nvSpPr>
            <p:cNvPr id="56" name="Google Shape;56;p14"/>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4"/>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4"/>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4"/>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14"/>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 name="Google Shape;61;p14"/>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62" name="Google Shape;62;p14"/>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63" name="Google Shape;63;p1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
        <p:cNvGrpSpPr/>
        <p:nvPr/>
      </p:nvGrpSpPr>
      <p:grpSpPr>
        <a:xfrm>
          <a:off x="0" y="0"/>
          <a:ext cx="0" cy="0"/>
          <a:chOff x="0" y="0"/>
          <a:chExt cx="0" cy="0"/>
        </a:xfrm>
      </p:grpSpPr>
      <p:grpSp>
        <p:nvGrpSpPr>
          <p:cNvPr id="65" name="Google Shape;65;p15"/>
          <p:cNvGrpSpPr/>
          <p:nvPr/>
        </p:nvGrpSpPr>
        <p:grpSpPr>
          <a:xfrm>
            <a:off x="0" y="3903669"/>
            <a:ext cx="9144000" cy="1239925"/>
            <a:chOff x="0" y="3903669"/>
            <a:chExt cx="9144000" cy="1239925"/>
          </a:xfrm>
        </p:grpSpPr>
        <p:sp>
          <p:nvSpPr>
            <p:cNvPr id="66" name="Google Shape;66;p15"/>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5"/>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15"/>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5"/>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15"/>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1" name="Google Shape;71;p1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2" name="Google Shape;72;p15"/>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73" name="Google Shape;73;p1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74"/>
        <p:cNvGrpSpPr/>
        <p:nvPr/>
      </p:nvGrpSpPr>
      <p:grpSpPr>
        <a:xfrm>
          <a:off x="0" y="0"/>
          <a:ext cx="0" cy="0"/>
          <a:chOff x="0" y="0"/>
          <a:chExt cx="0" cy="0"/>
        </a:xfrm>
      </p:grpSpPr>
      <p:grpSp>
        <p:nvGrpSpPr>
          <p:cNvPr id="75" name="Google Shape;75;p16"/>
          <p:cNvGrpSpPr/>
          <p:nvPr/>
        </p:nvGrpSpPr>
        <p:grpSpPr>
          <a:xfrm>
            <a:off x="6098378" y="5"/>
            <a:ext cx="3045625" cy="2030570"/>
            <a:chOff x="6098378" y="5"/>
            <a:chExt cx="3045625" cy="2030570"/>
          </a:xfrm>
        </p:grpSpPr>
        <p:sp>
          <p:nvSpPr>
            <p:cNvPr id="76" name="Google Shape;76;p1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1" name="Google Shape;81;p1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82" name="Google Shape;82;p1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85" name="Google Shape;85;p1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6" name="Google Shape;86;p1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7" name="Google Shape;87;p1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90" name="Google Shape;90;p1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3" name="Google Shape;93;p1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4" name="Google Shape;94;p1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5"/>
        <p:cNvGrpSpPr/>
        <p:nvPr/>
      </p:nvGrpSpPr>
      <p:grpSpPr>
        <a:xfrm>
          <a:off x="0" y="0"/>
          <a:ext cx="0" cy="0"/>
          <a:chOff x="0" y="0"/>
          <a:chExt cx="0" cy="0"/>
        </a:xfrm>
      </p:grpSpPr>
      <p:grpSp>
        <p:nvGrpSpPr>
          <p:cNvPr id="96" name="Google Shape;96;p20"/>
          <p:cNvGrpSpPr/>
          <p:nvPr/>
        </p:nvGrpSpPr>
        <p:grpSpPr>
          <a:xfrm>
            <a:off x="6098378" y="5"/>
            <a:ext cx="3045625" cy="2030570"/>
            <a:chOff x="6098378" y="5"/>
            <a:chExt cx="3045625" cy="2030570"/>
          </a:xfrm>
        </p:grpSpPr>
        <p:sp>
          <p:nvSpPr>
            <p:cNvPr id="97" name="Google Shape;97;p20"/>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0"/>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0"/>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0"/>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0"/>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2" name="Google Shape;102;p20"/>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03" name="Google Shape;103;p2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4"/>
        <p:cNvGrpSpPr/>
        <p:nvPr/>
      </p:nvGrpSpPr>
      <p:grpSpPr>
        <a:xfrm>
          <a:off x="0" y="0"/>
          <a:ext cx="0" cy="0"/>
          <a:chOff x="0" y="0"/>
          <a:chExt cx="0" cy="0"/>
        </a:xfrm>
      </p:grpSpPr>
      <p:sp>
        <p:nvSpPr>
          <p:cNvPr id="105" name="Google Shape;105;p21"/>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6" name="Google Shape;106;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107" name="Google Shape;107;p21"/>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08" name="Google Shape;108;p21"/>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9" name="Google Shape;109;p21"/>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110" name="Google Shape;110;p2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1"/>
        <p:cNvGrpSpPr/>
        <p:nvPr/>
      </p:nvGrpSpPr>
      <p:grpSpPr>
        <a:xfrm>
          <a:off x="0" y="0"/>
          <a:ext cx="0" cy="0"/>
          <a:chOff x="0" y="0"/>
          <a:chExt cx="0" cy="0"/>
        </a:xfrm>
      </p:grpSpPr>
      <p:sp>
        <p:nvSpPr>
          <p:cNvPr id="112" name="Google Shape;112;p22"/>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13" name="Google Shape;113;p2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14"/>
        <p:cNvGrpSpPr/>
        <p:nvPr/>
      </p:nvGrpSpPr>
      <p:grpSpPr>
        <a:xfrm>
          <a:off x="0" y="0"/>
          <a:ext cx="0" cy="0"/>
          <a:chOff x="0" y="0"/>
          <a:chExt cx="0" cy="0"/>
        </a:xfrm>
      </p:grpSpPr>
      <p:grpSp>
        <p:nvGrpSpPr>
          <p:cNvPr id="115" name="Google Shape;115;p23"/>
          <p:cNvGrpSpPr/>
          <p:nvPr/>
        </p:nvGrpSpPr>
        <p:grpSpPr>
          <a:xfrm>
            <a:off x="6098378" y="5"/>
            <a:ext cx="3045625" cy="2030570"/>
            <a:chOff x="6098378" y="5"/>
            <a:chExt cx="3045625" cy="2030570"/>
          </a:xfrm>
        </p:grpSpPr>
        <p:sp>
          <p:nvSpPr>
            <p:cNvPr id="116" name="Google Shape;116;p2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2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2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1" name="Google Shape;121;p23"/>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122" name="Google Shape;122;p23"/>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123" name="Google Shape;123;p2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4"/>
        <p:cNvGrpSpPr/>
        <p:nvPr/>
      </p:nvGrpSpPr>
      <p:grpSpPr>
        <a:xfrm>
          <a:off x="0" y="0"/>
          <a:ext cx="0" cy="0"/>
          <a:chOff x="0" y="0"/>
          <a:chExt cx="0" cy="0"/>
        </a:xfrm>
      </p:grpSpPr>
      <p:sp>
        <p:nvSpPr>
          <p:cNvPr id="125" name="Google Shape;125;p2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ctrTitle"/>
          </p:nvPr>
        </p:nvSpPr>
        <p:spPr>
          <a:xfrm>
            <a:off x="598100" y="883453"/>
            <a:ext cx="8188200" cy="1730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1200"/>
              </a:spcBef>
              <a:spcAft>
                <a:spcPts val="0"/>
              </a:spcAft>
              <a:buSzPts val="990"/>
              <a:buNone/>
            </a:pPr>
            <a:endParaRPr sz="2500" b="1" u="sng">
              <a:latin typeface="Times New Roman"/>
              <a:ea typeface="Times New Roman"/>
              <a:cs typeface="Times New Roman"/>
              <a:sym typeface="Times New Roman"/>
            </a:endParaRPr>
          </a:p>
          <a:p>
            <a:pPr marL="0" lvl="0" indent="0" algn="ctr" rtl="0">
              <a:lnSpc>
                <a:spcPct val="100000"/>
              </a:lnSpc>
              <a:spcBef>
                <a:spcPts val="1200"/>
              </a:spcBef>
              <a:spcAft>
                <a:spcPts val="1200"/>
              </a:spcAft>
              <a:buSzPts val="990"/>
              <a:buNone/>
            </a:pPr>
            <a:r>
              <a:rPr lang="en-GB" sz="2700" b="1" u="sng">
                <a:latin typeface="Times New Roman"/>
                <a:ea typeface="Times New Roman"/>
                <a:cs typeface="Times New Roman"/>
                <a:sym typeface="Times New Roman"/>
              </a:rPr>
              <a:t>THE EFFECTS OF GROWTH , FOREIGN AID AND FINANCIAL DEVELOPMENT ON POVERTY</a:t>
            </a:r>
            <a:endParaRPr sz="4680"/>
          </a:p>
        </p:txBody>
      </p:sp>
      <p:sp>
        <p:nvSpPr>
          <p:cNvPr id="131" name="Google Shape;131;p25"/>
          <p:cNvSpPr txBox="1">
            <a:spLocks noGrp="1"/>
          </p:cNvSpPr>
          <p:nvPr>
            <p:ph type="subTitle" idx="1"/>
          </p:nvPr>
        </p:nvSpPr>
        <p:spPr>
          <a:xfrm>
            <a:off x="1819075" y="3955271"/>
            <a:ext cx="5805900" cy="621600"/>
          </a:xfrm>
          <a:prstGeom prst="rect">
            <a:avLst/>
          </a:prstGeom>
          <a:noFill/>
          <a:ln>
            <a:noFill/>
          </a:ln>
          <a:effectLst>
            <a:outerShdw blurRad="57150" dist="19050" dir="5400000" algn="bl" rotWithShape="0">
              <a:srgbClr val="000000">
                <a:alpha val="99000"/>
              </a:srgbClr>
            </a:outerShdw>
          </a:effectLst>
        </p:spPr>
        <p:txBody>
          <a:bodyPr spcFirstLastPara="1" wrap="square" lIns="91425" tIns="91425" rIns="91425" bIns="91425" anchor="t" anchorCtr="0">
            <a:normAutofit/>
          </a:bodyPr>
          <a:lstStyle/>
          <a:p>
            <a:pPr marL="0" lvl="0" indent="0" algn="ctr" rtl="0">
              <a:lnSpc>
                <a:spcPct val="80000"/>
              </a:lnSpc>
              <a:spcBef>
                <a:spcPts val="0"/>
              </a:spcBef>
              <a:spcAft>
                <a:spcPts val="0"/>
              </a:spcAft>
              <a:buSzPts val="1018"/>
              <a:buNone/>
            </a:pPr>
            <a:r>
              <a:rPr lang="en-GB" sz="1842" b="1">
                <a:latin typeface="Times New Roman"/>
                <a:ea typeface="Times New Roman"/>
                <a:cs typeface="Times New Roman"/>
                <a:sym typeface="Times New Roman"/>
              </a:rPr>
              <a:t>DIVYANSH GUPTA(200351)</a:t>
            </a:r>
            <a:endParaRPr sz="1842" b="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311700" y="163750"/>
            <a:ext cx="8520600" cy="607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GB" sz="2800" b="1" u="sng"/>
              <a:t>Introduction</a:t>
            </a:r>
            <a:endParaRPr sz="2800" b="1" u="sng"/>
          </a:p>
        </p:txBody>
      </p:sp>
      <p:sp>
        <p:nvSpPr>
          <p:cNvPr id="137" name="Google Shape;137;p26"/>
          <p:cNvSpPr txBox="1">
            <a:spLocks noGrp="1"/>
          </p:cNvSpPr>
          <p:nvPr>
            <p:ph type="body" idx="1"/>
          </p:nvPr>
        </p:nvSpPr>
        <p:spPr>
          <a:xfrm>
            <a:off x="218832" y="820800"/>
            <a:ext cx="8520600" cy="3339000"/>
          </a:xfrm>
          <a:prstGeom prst="rect">
            <a:avLst/>
          </a:prstGeom>
          <a:noFill/>
          <a:ln>
            <a:noFill/>
          </a:ln>
        </p:spPr>
        <p:txBody>
          <a:bodyPr spcFirstLastPara="1" wrap="square" lIns="91425" tIns="91425" rIns="91425" bIns="91425" anchor="t" anchorCtr="0">
            <a:normAutofit lnSpcReduction="10000"/>
          </a:bodyPr>
          <a:lstStyle/>
          <a:p>
            <a:pPr marL="457200" lvl="0" indent="-317500" algn="just" rtl="0">
              <a:spcBef>
                <a:spcPts val="1200"/>
              </a:spcBef>
              <a:spcAft>
                <a:spcPts val="0"/>
              </a:spcAft>
              <a:buClr>
                <a:schemeClr val="dk1"/>
              </a:buClr>
              <a:buSzPts val="1400"/>
              <a:buFont typeface="Times New Roman"/>
              <a:buChar char="●"/>
            </a:pPr>
            <a:r>
              <a:rPr lang="en-GB" sz="1400">
                <a:solidFill>
                  <a:srgbClr val="000000"/>
                </a:solidFill>
                <a:latin typeface="Arial"/>
                <a:ea typeface="Arial"/>
                <a:cs typeface="Arial"/>
                <a:sym typeface="Arial"/>
              </a:rPr>
              <a:t>Over the last two decades, global poverty has decreased significantly (1981-2010), East Asia and the Pacific have seen the </a:t>
            </a:r>
            <a:r>
              <a:rPr lang="en-GB" sz="1400" b="1">
                <a:solidFill>
                  <a:srgbClr val="000000"/>
                </a:solidFill>
                <a:latin typeface="Arial"/>
                <a:ea typeface="Arial"/>
                <a:cs typeface="Arial"/>
                <a:sym typeface="Arial"/>
              </a:rPr>
              <a:t>sharpest declines in both the number of poor and the poverty rate </a:t>
            </a:r>
            <a:r>
              <a:rPr lang="en-GB" sz="1400">
                <a:solidFill>
                  <a:srgbClr val="000000"/>
                </a:solidFill>
                <a:latin typeface="Arial"/>
                <a:ea typeface="Arial"/>
                <a:cs typeface="Arial"/>
                <a:sym typeface="Arial"/>
              </a:rPr>
              <a:t>whereas Sub-Saharan Africa has seen a </a:t>
            </a:r>
            <a:r>
              <a:rPr lang="en-GB" sz="1400" b="1">
                <a:solidFill>
                  <a:srgbClr val="000000"/>
                </a:solidFill>
                <a:latin typeface="Arial"/>
                <a:ea typeface="Arial"/>
                <a:cs typeface="Arial"/>
                <a:sym typeface="Arial"/>
              </a:rPr>
              <a:t>significant increase in the number of poor over the same period.</a:t>
            </a:r>
            <a:endParaRPr sz="1400">
              <a:solidFill>
                <a:srgbClr val="000000"/>
              </a:solidFill>
              <a:latin typeface="Arial"/>
              <a:ea typeface="Arial"/>
              <a:cs typeface="Arial"/>
              <a:sym typeface="Arial"/>
            </a:endParaRPr>
          </a:p>
          <a:p>
            <a:pPr marL="457200" lvl="0" indent="-317500" algn="just" rtl="0">
              <a:spcBef>
                <a:spcPts val="0"/>
              </a:spcBef>
              <a:spcAft>
                <a:spcPts val="0"/>
              </a:spcAft>
              <a:buClr>
                <a:schemeClr val="dk1"/>
              </a:buClr>
              <a:buSzPts val="1400"/>
              <a:buFont typeface="Times New Roman"/>
              <a:buChar char="●"/>
            </a:pPr>
            <a:r>
              <a:rPr lang="en-GB" sz="1400">
                <a:solidFill>
                  <a:srgbClr val="000000"/>
                </a:solidFill>
                <a:latin typeface="Arial"/>
                <a:ea typeface="Arial"/>
                <a:cs typeface="Arial"/>
                <a:sym typeface="Arial"/>
              </a:rPr>
              <a:t>Poverty reduction will be a major challenge in the future due to the </a:t>
            </a:r>
            <a:r>
              <a:rPr lang="en-GB" sz="1400" b="1">
                <a:solidFill>
                  <a:srgbClr val="000000"/>
                </a:solidFill>
                <a:latin typeface="Arial"/>
                <a:ea typeface="Arial"/>
                <a:cs typeface="Arial"/>
                <a:sym typeface="Arial"/>
              </a:rPr>
              <a:t>disparities in experience across regions</a:t>
            </a:r>
            <a:r>
              <a:rPr lang="en-GB" sz="1400">
                <a:solidFill>
                  <a:srgbClr val="000000"/>
                </a:solidFill>
                <a:latin typeface="Arial"/>
                <a:ea typeface="Arial"/>
                <a:cs typeface="Arial"/>
                <a:sym typeface="Arial"/>
              </a:rPr>
              <a:t>. Numerous cross-country research and case studies, </a:t>
            </a:r>
            <a:r>
              <a:rPr lang="en-GB" sz="1400" b="1">
                <a:solidFill>
                  <a:srgbClr val="000000"/>
                </a:solidFill>
                <a:latin typeface="Arial"/>
                <a:ea typeface="Arial"/>
                <a:cs typeface="Arial"/>
                <a:sym typeface="Arial"/>
              </a:rPr>
              <a:t>discover a one-to one relationship between the poorest quintile’s income and average income</a:t>
            </a:r>
            <a:r>
              <a:rPr lang="en-GB"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marL="457200" lvl="0" indent="-317500" algn="just" rtl="0">
              <a:spcBef>
                <a:spcPts val="0"/>
              </a:spcBef>
              <a:spcAft>
                <a:spcPts val="0"/>
              </a:spcAft>
              <a:buClr>
                <a:schemeClr val="dk1"/>
              </a:buClr>
              <a:buSzPts val="1400"/>
              <a:buFont typeface="Times New Roman"/>
              <a:buChar char="●"/>
            </a:pPr>
            <a:r>
              <a:rPr lang="en-GB" sz="1400">
                <a:solidFill>
                  <a:srgbClr val="000000"/>
                </a:solidFill>
                <a:latin typeface="Arial"/>
                <a:ea typeface="Arial"/>
                <a:cs typeface="Arial"/>
                <a:sym typeface="Arial"/>
              </a:rPr>
              <a:t>Current empirical studies suggest that growth-promoting policies such as </a:t>
            </a:r>
            <a:r>
              <a:rPr lang="en-GB" sz="1400" b="1">
                <a:solidFill>
                  <a:srgbClr val="000000"/>
                </a:solidFill>
                <a:latin typeface="Arial"/>
                <a:ea typeface="Arial"/>
                <a:cs typeface="Arial"/>
                <a:sym typeface="Arial"/>
              </a:rPr>
              <a:t>financial system development, trade openness, and remittances</a:t>
            </a:r>
            <a:r>
              <a:rPr lang="en-GB" sz="1400">
                <a:solidFill>
                  <a:srgbClr val="000000"/>
                </a:solidFill>
                <a:latin typeface="Arial"/>
                <a:ea typeface="Arial"/>
                <a:cs typeface="Arial"/>
                <a:sym typeface="Arial"/>
              </a:rPr>
              <a:t> may have a systemic impact on the poor.</a:t>
            </a:r>
            <a:endParaRPr sz="1400">
              <a:solidFill>
                <a:schemeClr val="dk1"/>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GB" sz="1400">
                <a:solidFill>
                  <a:srgbClr val="000000"/>
                </a:solidFill>
                <a:latin typeface="Arial"/>
                <a:ea typeface="Arial"/>
                <a:cs typeface="Arial"/>
                <a:sym typeface="Arial"/>
              </a:rPr>
              <a:t>This study answers the following two questions, First: </a:t>
            </a:r>
            <a:r>
              <a:rPr lang="en-GB" sz="1400" b="1">
                <a:solidFill>
                  <a:srgbClr val="000000"/>
                </a:solidFill>
                <a:latin typeface="Arial"/>
                <a:ea typeface="Arial"/>
                <a:cs typeface="Arial"/>
                <a:sym typeface="Arial"/>
              </a:rPr>
              <a:t>how does growth and policies that promote development affect poverty-reduction</a:t>
            </a:r>
            <a:r>
              <a:rPr lang="en-GB" sz="1400">
                <a:solidFill>
                  <a:srgbClr val="000000"/>
                </a:solidFill>
                <a:latin typeface="Arial"/>
                <a:ea typeface="Arial"/>
                <a:cs typeface="Arial"/>
                <a:sym typeface="Arial"/>
              </a:rPr>
              <a:t>? Second, </a:t>
            </a:r>
            <a:r>
              <a:rPr lang="en-GB" sz="1400" b="1">
                <a:solidFill>
                  <a:srgbClr val="000000"/>
                </a:solidFill>
                <a:latin typeface="Arial"/>
                <a:ea typeface="Arial"/>
                <a:cs typeface="Arial"/>
                <a:sym typeface="Arial"/>
              </a:rPr>
              <a:t>is the effect of each of these explanatory variables nonlinear in terms of poverty</a:t>
            </a:r>
            <a:r>
              <a:rPr lang="en-GB" sz="1400">
                <a:solidFill>
                  <a:srgbClr val="000000"/>
                </a:solidFill>
                <a:latin typeface="Arial"/>
                <a:ea typeface="Arial"/>
                <a:cs typeface="Arial"/>
                <a:sym typeface="Arial"/>
              </a:rPr>
              <a:t>? Because the sequencing of reforms for effective and expedited poverty eradication may change in response to growth and policy.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title"/>
          </p:nvPr>
        </p:nvSpPr>
        <p:spPr>
          <a:xfrm>
            <a:off x="311700" y="249275"/>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Literature Review</a:t>
            </a:r>
            <a:endParaRPr b="1" u="sng"/>
          </a:p>
        </p:txBody>
      </p:sp>
      <p:sp>
        <p:nvSpPr>
          <p:cNvPr id="143" name="Google Shape;143;p27"/>
          <p:cNvSpPr txBox="1">
            <a:spLocks noGrp="1"/>
          </p:cNvSpPr>
          <p:nvPr>
            <p:ph type="body" idx="1"/>
          </p:nvPr>
        </p:nvSpPr>
        <p:spPr>
          <a:xfrm>
            <a:off x="241375" y="1017800"/>
            <a:ext cx="8520600" cy="3339000"/>
          </a:xfrm>
          <a:prstGeom prst="rect">
            <a:avLst/>
          </a:prstGeom>
          <a:noFill/>
          <a:ln>
            <a:noFill/>
          </a:ln>
        </p:spPr>
        <p:txBody>
          <a:bodyPr spcFirstLastPara="1" wrap="square" lIns="91425" tIns="91425" rIns="91425" bIns="91425" anchor="t" anchorCtr="0">
            <a:normAutofit/>
          </a:bodyPr>
          <a:lstStyle/>
          <a:p>
            <a:pPr marL="457200" lvl="0" indent="-324707" algn="just" rtl="0">
              <a:spcBef>
                <a:spcPts val="1200"/>
              </a:spcBef>
              <a:spcAft>
                <a:spcPts val="0"/>
              </a:spcAft>
              <a:buClr>
                <a:schemeClr val="dk1"/>
              </a:buClr>
              <a:buSzPts val="1514"/>
              <a:buChar char="●"/>
            </a:pPr>
            <a:r>
              <a:rPr lang="en-GB" sz="1400">
                <a:solidFill>
                  <a:srgbClr val="000000"/>
                </a:solidFill>
                <a:latin typeface="Arial"/>
                <a:ea typeface="Arial"/>
                <a:cs typeface="Arial"/>
                <a:sym typeface="Arial"/>
              </a:rPr>
              <a:t>Both cross-country and case studies have shown the importance of continuous economic development as a significant component in poverty eradication (see Ravallion &amp; Chen, 1997; Dollar &amp; Kraay, 2002:2004: Besley &amp; Burgess, 2003; Kraay, 2006).</a:t>
            </a:r>
            <a:endParaRPr sz="1400">
              <a:solidFill>
                <a:schemeClr val="dk1"/>
              </a:solidFill>
              <a:latin typeface="Times New Roman"/>
              <a:ea typeface="Times New Roman"/>
              <a:cs typeface="Times New Roman"/>
              <a:sym typeface="Times New Roman"/>
            </a:endParaRPr>
          </a:p>
          <a:p>
            <a:pPr marL="457200" lvl="0" indent="-324707" algn="just" rtl="0">
              <a:spcBef>
                <a:spcPts val="0"/>
              </a:spcBef>
              <a:spcAft>
                <a:spcPts val="0"/>
              </a:spcAft>
              <a:buClr>
                <a:schemeClr val="dk1"/>
              </a:buClr>
              <a:buSzPts val="1514"/>
              <a:buFont typeface="Times New Roman"/>
              <a:buChar char="●"/>
            </a:pPr>
            <a:r>
              <a:rPr lang="en-GB" sz="1400">
                <a:solidFill>
                  <a:srgbClr val="000000"/>
                </a:solidFill>
                <a:latin typeface="Arial"/>
                <a:ea typeface="Arial"/>
                <a:cs typeface="Arial"/>
                <a:sym typeface="Arial"/>
              </a:rPr>
              <a:t>According to Dollar and Kraay (2002), there is a one-to-one relationship average income and income of the poorest quantile and </a:t>
            </a:r>
            <a:r>
              <a:rPr lang="en-GB" sz="1400" b="1">
                <a:solidFill>
                  <a:srgbClr val="000000"/>
                </a:solidFill>
                <a:latin typeface="Arial"/>
                <a:ea typeface="Arial"/>
                <a:cs typeface="Arial"/>
                <a:sym typeface="Arial"/>
              </a:rPr>
              <a:t>conventional growth factors such as trade policy have little effect on low income.</a:t>
            </a:r>
            <a:endParaRPr sz="1400" b="1">
              <a:solidFill>
                <a:srgbClr val="000000"/>
              </a:solidFill>
              <a:latin typeface="Arial"/>
              <a:ea typeface="Arial"/>
              <a:cs typeface="Arial"/>
              <a:sym typeface="Arial"/>
            </a:endParaRPr>
          </a:p>
          <a:p>
            <a:pPr marL="457200" lvl="0" indent="-317500" algn="just" rtl="0">
              <a:spcBef>
                <a:spcPts val="0"/>
              </a:spcBef>
              <a:spcAft>
                <a:spcPts val="0"/>
              </a:spcAft>
              <a:buClr>
                <a:srgbClr val="000000"/>
              </a:buClr>
              <a:buSzPts val="1400"/>
              <a:buFont typeface="Arial"/>
              <a:buChar char="●"/>
            </a:pPr>
            <a:r>
              <a:rPr lang="en-GB" sz="1400">
                <a:solidFill>
                  <a:srgbClr val="000000"/>
                </a:solidFill>
                <a:latin typeface="Arial"/>
                <a:ea typeface="Arial"/>
                <a:cs typeface="Arial"/>
                <a:sym typeface="Arial"/>
              </a:rPr>
              <a:t>Tsai and Huang (2007) had results similar to Dollar and Kray but contrary to them, they also showed </a:t>
            </a:r>
            <a:r>
              <a:rPr lang="en-GB" sz="1400" b="1">
                <a:solidFill>
                  <a:srgbClr val="000000"/>
                </a:solidFill>
                <a:latin typeface="Arial"/>
                <a:ea typeface="Arial"/>
                <a:cs typeface="Arial"/>
                <a:sym typeface="Arial"/>
              </a:rPr>
              <a:t>openness to international commerce has a large poverty-reducing impact.</a:t>
            </a:r>
            <a:endParaRPr sz="1400" b="1">
              <a:solidFill>
                <a:srgbClr val="000000"/>
              </a:solidFill>
              <a:latin typeface="Arial"/>
              <a:ea typeface="Arial"/>
              <a:cs typeface="Arial"/>
              <a:sym typeface="Arial"/>
            </a:endParaRPr>
          </a:p>
          <a:p>
            <a:pPr marL="457200" lvl="0" indent="-324707" algn="just" rtl="0">
              <a:spcBef>
                <a:spcPts val="0"/>
              </a:spcBef>
              <a:spcAft>
                <a:spcPts val="0"/>
              </a:spcAft>
              <a:buClr>
                <a:schemeClr val="dk1"/>
              </a:buClr>
              <a:buSzPts val="1514"/>
              <a:buFont typeface="Times New Roman"/>
              <a:buChar char="●"/>
            </a:pPr>
            <a:r>
              <a:rPr lang="en-GB" sz="1400">
                <a:solidFill>
                  <a:srgbClr val="000000"/>
                </a:solidFill>
                <a:latin typeface="Arial"/>
                <a:ea typeface="Arial"/>
                <a:cs typeface="Arial"/>
                <a:sym typeface="Arial"/>
              </a:rPr>
              <a:t>However, Ravallion (2006), using micro and macro data, concludes that trade has a</a:t>
            </a:r>
            <a:r>
              <a:rPr lang="en-GB" sz="1400" b="1">
                <a:solidFill>
                  <a:srgbClr val="000000"/>
                </a:solidFill>
                <a:latin typeface="Arial"/>
                <a:ea typeface="Arial"/>
                <a:cs typeface="Arial"/>
                <a:sym typeface="Arial"/>
              </a:rPr>
              <a:t> substantially smaller poverty-reduction impact.</a:t>
            </a:r>
            <a:endParaRPr sz="1400">
              <a:solidFill>
                <a:schemeClr val="dk1"/>
              </a:solidFill>
              <a:latin typeface="Times New Roman"/>
              <a:ea typeface="Times New Roman"/>
              <a:cs typeface="Times New Roman"/>
              <a:sym typeface="Times New Roman"/>
            </a:endParaRPr>
          </a:p>
          <a:p>
            <a:pPr marL="457200" lvl="0" indent="-324707" algn="just" rtl="0">
              <a:spcBef>
                <a:spcPts val="0"/>
              </a:spcBef>
              <a:spcAft>
                <a:spcPts val="0"/>
              </a:spcAft>
              <a:buClr>
                <a:schemeClr val="dk1"/>
              </a:buClr>
              <a:buSzPts val="1514"/>
              <a:buFont typeface="Times New Roman"/>
              <a:buChar char="●"/>
            </a:pPr>
            <a:r>
              <a:rPr lang="en-GB" sz="1400">
                <a:solidFill>
                  <a:srgbClr val="000000"/>
                </a:solidFill>
                <a:latin typeface="Arial"/>
                <a:ea typeface="Arial"/>
                <a:cs typeface="Arial"/>
                <a:sym typeface="Arial"/>
              </a:rPr>
              <a:t>According to Tsai and Huang (2007), </a:t>
            </a:r>
            <a:r>
              <a:rPr lang="en-GB" sz="1400" b="1">
                <a:solidFill>
                  <a:srgbClr val="000000"/>
                </a:solidFill>
                <a:latin typeface="Arial"/>
                <a:ea typeface="Arial"/>
                <a:cs typeface="Arial"/>
                <a:sym typeface="Arial"/>
              </a:rPr>
              <a:t>FDI inflows have no substantial influence on poor income.</a:t>
            </a:r>
            <a:endParaRPr sz="1400" b="1">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311700" y="134175"/>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Literature Review</a:t>
            </a:r>
            <a:endParaRPr b="1" u="sng"/>
          </a:p>
        </p:txBody>
      </p:sp>
      <p:sp>
        <p:nvSpPr>
          <p:cNvPr id="149" name="Google Shape;149;p28"/>
          <p:cNvSpPr txBox="1">
            <a:spLocks noGrp="1"/>
          </p:cNvSpPr>
          <p:nvPr>
            <p:ph type="body" idx="1"/>
          </p:nvPr>
        </p:nvSpPr>
        <p:spPr>
          <a:xfrm>
            <a:off x="241375" y="702575"/>
            <a:ext cx="8902500" cy="3654300"/>
          </a:xfrm>
          <a:prstGeom prst="rect">
            <a:avLst/>
          </a:prstGeom>
          <a:noFill/>
          <a:ln>
            <a:noFill/>
          </a:ln>
        </p:spPr>
        <p:txBody>
          <a:bodyPr spcFirstLastPara="1" wrap="square" lIns="91425" tIns="91425" rIns="91425" bIns="91425" anchor="t" anchorCtr="0">
            <a:normAutofit lnSpcReduction="10000"/>
          </a:bodyPr>
          <a:lstStyle/>
          <a:p>
            <a:pPr marL="457200" lvl="0" indent="-324707" algn="just" rtl="0">
              <a:spcBef>
                <a:spcPts val="1200"/>
              </a:spcBef>
              <a:spcAft>
                <a:spcPts val="0"/>
              </a:spcAft>
              <a:buClr>
                <a:schemeClr val="dk1"/>
              </a:buClr>
              <a:buSzPts val="1514"/>
              <a:buChar char="●"/>
            </a:pPr>
            <a:r>
              <a:rPr lang="en-GB" sz="1400">
                <a:solidFill>
                  <a:srgbClr val="000000"/>
                </a:solidFill>
                <a:latin typeface="Arial"/>
                <a:ea typeface="Arial"/>
                <a:cs typeface="Arial"/>
                <a:sym typeface="Arial"/>
              </a:rPr>
              <a:t>Chambers et al. (2008) using panel data from 1986 to 2000 discovered </a:t>
            </a:r>
            <a:r>
              <a:rPr lang="en-GB" sz="1400" b="1">
                <a:solidFill>
                  <a:srgbClr val="000000"/>
                </a:solidFill>
                <a:latin typeface="Arial"/>
                <a:ea typeface="Arial"/>
                <a:cs typeface="Arial"/>
                <a:sym typeface="Arial"/>
              </a:rPr>
              <a:t>an inverted-U shaped relationship between income and poverty</a:t>
            </a:r>
            <a:r>
              <a:rPr lang="en-GB" sz="1400">
                <a:solidFill>
                  <a:srgbClr val="000000"/>
                </a:solidFill>
                <a:latin typeface="Arial"/>
                <a:ea typeface="Arial"/>
                <a:cs typeface="Arial"/>
                <a:sym typeface="Arial"/>
              </a:rPr>
              <a:t>, i.e., short-run economic growth enhances poverty while long-run growth decreases poverty.</a:t>
            </a:r>
            <a:endParaRPr sz="1400">
              <a:solidFill>
                <a:schemeClr val="dk1"/>
              </a:solidFill>
              <a:latin typeface="Times New Roman"/>
              <a:ea typeface="Times New Roman"/>
              <a:cs typeface="Times New Roman"/>
              <a:sym typeface="Times New Roman"/>
            </a:endParaRPr>
          </a:p>
          <a:p>
            <a:pPr marL="457200" lvl="0" indent="-324707" algn="just" rtl="0">
              <a:spcBef>
                <a:spcPts val="0"/>
              </a:spcBef>
              <a:spcAft>
                <a:spcPts val="0"/>
              </a:spcAft>
              <a:buClr>
                <a:schemeClr val="dk1"/>
              </a:buClr>
              <a:buSzPts val="1514"/>
              <a:buFont typeface="Times New Roman"/>
              <a:buChar char="●"/>
            </a:pPr>
            <a:r>
              <a:rPr lang="en-GB" sz="1400">
                <a:solidFill>
                  <a:srgbClr val="000000"/>
                </a:solidFill>
                <a:latin typeface="Arial"/>
                <a:ea typeface="Arial"/>
                <a:cs typeface="Arial"/>
                <a:sym typeface="Arial"/>
              </a:rPr>
              <a:t>Adams and Page (2005) discovered that</a:t>
            </a:r>
            <a:r>
              <a:rPr lang="en-GB" sz="1400" b="1">
                <a:solidFill>
                  <a:srgbClr val="000000"/>
                </a:solidFill>
                <a:latin typeface="Arial"/>
                <a:ea typeface="Arial"/>
                <a:cs typeface="Arial"/>
                <a:sym typeface="Arial"/>
              </a:rPr>
              <a:t> foreign remittances have significant poverty-reduction impacts in the area </a:t>
            </a:r>
            <a:r>
              <a:rPr lang="en-GB" sz="1400">
                <a:solidFill>
                  <a:srgbClr val="000000"/>
                </a:solidFill>
                <a:latin typeface="Arial"/>
                <a:ea typeface="Arial"/>
                <a:cs typeface="Arial"/>
                <a:sym typeface="Arial"/>
              </a:rPr>
              <a:t>while examining development of poverty, inequality, and growth in selected Middle East and North African nations from </a:t>
            </a:r>
            <a:r>
              <a:rPr lang="en-GB" sz="1400" b="1">
                <a:solidFill>
                  <a:srgbClr val="000000"/>
                </a:solidFill>
                <a:latin typeface="Arial"/>
                <a:ea typeface="Arial"/>
                <a:cs typeface="Arial"/>
                <a:sym typeface="Arial"/>
              </a:rPr>
              <a:t>1980 to 2000</a:t>
            </a:r>
            <a:r>
              <a:rPr lang="en-GB" sz="1400">
                <a:solidFill>
                  <a:srgbClr val="000000"/>
                </a:solidFill>
                <a:latin typeface="Arial"/>
                <a:ea typeface="Arial"/>
                <a:cs typeface="Arial"/>
                <a:sym typeface="Arial"/>
              </a:rPr>
              <a:t>. </a:t>
            </a:r>
            <a:endParaRPr sz="1400">
              <a:solidFill>
                <a:schemeClr val="dk1"/>
              </a:solidFill>
              <a:latin typeface="Times New Roman"/>
              <a:ea typeface="Times New Roman"/>
              <a:cs typeface="Times New Roman"/>
              <a:sym typeface="Times New Roman"/>
            </a:endParaRPr>
          </a:p>
          <a:p>
            <a:pPr marL="457200" lvl="0" indent="-324707" algn="just" rtl="0">
              <a:spcBef>
                <a:spcPts val="0"/>
              </a:spcBef>
              <a:spcAft>
                <a:spcPts val="0"/>
              </a:spcAft>
              <a:buClr>
                <a:schemeClr val="dk1"/>
              </a:buClr>
              <a:buSzPts val="1514"/>
              <a:buFont typeface="Times New Roman"/>
              <a:buChar char="●"/>
            </a:pPr>
            <a:r>
              <a:rPr lang="en-GB" sz="1400">
                <a:solidFill>
                  <a:srgbClr val="000000"/>
                </a:solidFill>
                <a:latin typeface="Arial"/>
                <a:ea typeface="Arial"/>
                <a:cs typeface="Arial"/>
                <a:sym typeface="Arial"/>
              </a:rPr>
              <a:t>Beck et al. (2007) discovered that </a:t>
            </a:r>
            <a:r>
              <a:rPr lang="en-GB" sz="1400" b="1">
                <a:solidFill>
                  <a:srgbClr val="000000"/>
                </a:solidFill>
                <a:latin typeface="Arial"/>
                <a:ea typeface="Arial"/>
                <a:cs typeface="Arial"/>
                <a:sym typeface="Arial"/>
              </a:rPr>
              <a:t>financial growth not only benefits the lowest quintile's income but also decreases income disparity</a:t>
            </a:r>
            <a:r>
              <a:rPr lang="en-GB" sz="1400">
                <a:solidFill>
                  <a:srgbClr val="000000"/>
                </a:solidFill>
                <a:latin typeface="Arial"/>
                <a:ea typeface="Arial"/>
                <a:cs typeface="Arial"/>
                <a:sym typeface="Arial"/>
              </a:rPr>
              <a:t>. </a:t>
            </a:r>
            <a:r>
              <a:rPr lang="en-GB" sz="1400" b="1">
                <a:solidFill>
                  <a:srgbClr val="000000"/>
                </a:solidFill>
                <a:latin typeface="Arial"/>
                <a:ea typeface="Arial"/>
                <a:cs typeface="Arial"/>
                <a:sym typeface="Arial"/>
              </a:rPr>
              <a:t>These two findings, together with the growth-enhancing impacts of financial development, demonstrate the critical role that financial development plays in poverty alleviation.</a:t>
            </a:r>
            <a:endParaRPr sz="1400">
              <a:solidFill>
                <a:schemeClr val="dk1"/>
              </a:solidFill>
              <a:latin typeface="Times New Roman"/>
              <a:ea typeface="Times New Roman"/>
              <a:cs typeface="Times New Roman"/>
              <a:sym typeface="Times New Roman"/>
            </a:endParaRPr>
          </a:p>
          <a:p>
            <a:pPr marL="457200" lvl="0" indent="-324707" algn="just" rtl="0">
              <a:spcBef>
                <a:spcPts val="0"/>
              </a:spcBef>
              <a:spcAft>
                <a:spcPts val="0"/>
              </a:spcAft>
              <a:buClr>
                <a:schemeClr val="dk1"/>
              </a:buClr>
              <a:buSzPts val="1514"/>
              <a:buFont typeface="Times New Roman"/>
              <a:buChar char="●"/>
            </a:pPr>
            <a:r>
              <a:rPr lang="en-GB" sz="1400">
                <a:solidFill>
                  <a:srgbClr val="000000"/>
                </a:solidFill>
                <a:latin typeface="Arial"/>
                <a:ea typeface="Arial"/>
                <a:cs typeface="Arial"/>
                <a:sym typeface="Arial"/>
              </a:rPr>
              <a:t>Clemens et al. (2012) discovered that</a:t>
            </a:r>
            <a:r>
              <a:rPr lang="en-GB" sz="1400" b="1">
                <a:solidFill>
                  <a:srgbClr val="000000"/>
                </a:solidFill>
                <a:latin typeface="Arial"/>
                <a:ea typeface="Arial"/>
                <a:cs typeface="Arial"/>
                <a:sym typeface="Arial"/>
              </a:rPr>
              <a:t> foreign help had a moderate positive impact on growth, </a:t>
            </a:r>
            <a:r>
              <a:rPr lang="en-GB" sz="1400">
                <a:solidFill>
                  <a:srgbClr val="000000"/>
                </a:solidFill>
                <a:latin typeface="Arial"/>
                <a:ea typeface="Arial"/>
                <a:cs typeface="Arial"/>
                <a:sym typeface="Arial"/>
              </a:rPr>
              <a:t>Alvi and Aberra(2014) found that growth in average income and other growth enhancing policies have heterogenous impact on poverty, especially the </a:t>
            </a:r>
            <a:r>
              <a:rPr lang="en-GB" sz="1400" b="1">
                <a:solidFill>
                  <a:srgbClr val="000000"/>
                </a:solidFill>
                <a:latin typeface="Arial"/>
                <a:ea typeface="Arial"/>
                <a:cs typeface="Arial"/>
                <a:sym typeface="Arial"/>
              </a:rPr>
              <a:t>marginal effect of growth and growth enhancing policies  decreases at higher levels of poverty.</a:t>
            </a:r>
            <a:endParaRPr sz="1400" b="1">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body" idx="1"/>
          </p:nvPr>
        </p:nvSpPr>
        <p:spPr>
          <a:xfrm>
            <a:off x="222200" y="823875"/>
            <a:ext cx="8768100" cy="37884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1200"/>
              </a:spcBef>
              <a:spcAft>
                <a:spcPts val="0"/>
              </a:spcAft>
              <a:buSzPts val="1260"/>
              <a:buNone/>
            </a:pPr>
            <a:r>
              <a:rPr lang="en-GB" sz="1504">
                <a:solidFill>
                  <a:srgbClr val="000000"/>
                </a:solidFill>
                <a:latin typeface="Arial"/>
                <a:ea typeface="Arial"/>
                <a:cs typeface="Arial"/>
                <a:sym typeface="Arial"/>
              </a:rPr>
              <a:t>The purpose of this paper is to revisit the relationship between </a:t>
            </a:r>
            <a:r>
              <a:rPr lang="en-GB" sz="1504" b="1">
                <a:solidFill>
                  <a:srgbClr val="000000"/>
                </a:solidFill>
                <a:latin typeface="Arial"/>
                <a:ea typeface="Arial"/>
                <a:cs typeface="Arial"/>
                <a:sym typeface="Arial"/>
              </a:rPr>
              <a:t>average income and other determinants of growth on poverty using Non Parametric Analysis</a:t>
            </a:r>
            <a:r>
              <a:rPr lang="en-GB" sz="1504">
                <a:solidFill>
                  <a:srgbClr val="000000"/>
                </a:solidFill>
                <a:latin typeface="Arial"/>
                <a:ea typeface="Arial"/>
                <a:cs typeface="Arial"/>
                <a:sym typeface="Arial"/>
              </a:rPr>
              <a:t>. If the true impact is </a:t>
            </a:r>
            <a:r>
              <a:rPr lang="en-GB" sz="1504" b="1">
                <a:solidFill>
                  <a:srgbClr val="000000"/>
                </a:solidFill>
                <a:latin typeface="Arial"/>
                <a:ea typeface="Arial"/>
                <a:cs typeface="Arial"/>
                <a:sym typeface="Arial"/>
              </a:rPr>
              <a:t>nonlinear</a:t>
            </a:r>
            <a:r>
              <a:rPr lang="en-GB" sz="1504">
                <a:solidFill>
                  <a:srgbClr val="000000"/>
                </a:solidFill>
                <a:latin typeface="Arial"/>
                <a:ea typeface="Arial"/>
                <a:cs typeface="Arial"/>
                <a:sym typeface="Arial"/>
              </a:rPr>
              <a:t>, the findings of prior studies' least squares calculation, which offer a point estimate of the average influence of growth and development-enhancing measures on poverty, may be deceptive. Contrary to least squares estimation, </a:t>
            </a:r>
            <a:r>
              <a:rPr lang="en-GB" sz="1504" b="1">
                <a:solidFill>
                  <a:srgbClr val="000000"/>
                </a:solidFill>
                <a:latin typeface="Arial"/>
                <a:ea typeface="Arial"/>
                <a:cs typeface="Arial"/>
                <a:sym typeface="Arial"/>
              </a:rPr>
              <a:t>Non Parametric Analysis does not assume any prior function or relationship between poverty and other determinants of growth</a:t>
            </a:r>
            <a:r>
              <a:rPr lang="en-GB" sz="1504">
                <a:solidFill>
                  <a:srgbClr val="000000"/>
                </a:solidFill>
                <a:latin typeface="Arial"/>
                <a:ea typeface="Arial"/>
                <a:cs typeface="Arial"/>
                <a:sym typeface="Arial"/>
              </a:rPr>
              <a:t>, thus it is perfect to depict the non-linear relationship between</a:t>
            </a:r>
            <a:r>
              <a:rPr lang="en-GB" sz="1504" b="1">
                <a:solidFill>
                  <a:srgbClr val="000000"/>
                </a:solidFill>
                <a:latin typeface="Arial"/>
                <a:ea typeface="Arial"/>
                <a:cs typeface="Arial"/>
                <a:sym typeface="Arial"/>
              </a:rPr>
              <a:t> average income and other determinants of growth on poverty and the varying effects of growth enhancing policies on poverty.</a:t>
            </a:r>
            <a:r>
              <a:rPr lang="en-GB" sz="1504">
                <a:solidFill>
                  <a:srgbClr val="000000"/>
                </a:solidFill>
                <a:latin typeface="Arial"/>
                <a:ea typeface="Arial"/>
                <a:cs typeface="Arial"/>
                <a:sym typeface="Arial"/>
              </a:rPr>
              <a:t> We can therefore show where the </a:t>
            </a:r>
            <a:r>
              <a:rPr lang="en-GB" sz="1504" b="1">
                <a:solidFill>
                  <a:srgbClr val="000000"/>
                </a:solidFill>
                <a:latin typeface="Arial"/>
                <a:ea typeface="Arial"/>
                <a:cs typeface="Arial"/>
                <a:sym typeface="Arial"/>
              </a:rPr>
              <a:t>impact of growth and growth enhancing policies on reducing poverty is the highest and the lowest,</a:t>
            </a:r>
            <a:r>
              <a:rPr lang="en-GB" sz="1504">
                <a:solidFill>
                  <a:srgbClr val="000000"/>
                </a:solidFill>
                <a:latin typeface="Arial"/>
                <a:ea typeface="Arial"/>
                <a:cs typeface="Arial"/>
                <a:sym typeface="Arial"/>
              </a:rPr>
              <a:t> (whether the higher levels of poverty are affected by the growth and financial aid more or whether we need different policies for different poverty levels.)</a:t>
            </a:r>
            <a:endParaRPr sz="1504">
              <a:solidFill>
                <a:srgbClr val="000000"/>
              </a:solidFill>
              <a:latin typeface="Arial"/>
              <a:ea typeface="Arial"/>
              <a:cs typeface="Arial"/>
              <a:sym typeface="Arial"/>
            </a:endParaRPr>
          </a:p>
          <a:p>
            <a:pPr marL="0" lvl="0" indent="0" algn="l" rtl="0">
              <a:lnSpc>
                <a:spcPct val="130000"/>
              </a:lnSpc>
              <a:spcBef>
                <a:spcPts val="1200"/>
              </a:spcBef>
              <a:spcAft>
                <a:spcPts val="0"/>
              </a:spcAft>
              <a:buSzPts val="1260"/>
              <a:buNone/>
            </a:pP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1200"/>
              </a:spcAft>
              <a:buSzPts val="1260"/>
              <a:buNone/>
            </a:pPr>
            <a:endParaRPr sz="1260"/>
          </a:p>
        </p:txBody>
      </p:sp>
      <p:sp>
        <p:nvSpPr>
          <p:cNvPr id="155" name="Google Shape;155;p29"/>
          <p:cNvSpPr txBox="1">
            <a:spLocks noGrp="1"/>
          </p:cNvSpPr>
          <p:nvPr>
            <p:ph type="title"/>
          </p:nvPr>
        </p:nvSpPr>
        <p:spPr>
          <a:xfrm>
            <a:off x="311700" y="216075"/>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Objective</a:t>
            </a:r>
            <a:endParaRPr b="1" u="sn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311700" y="133450"/>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Data Source and Coverage</a:t>
            </a:r>
            <a:endParaRPr/>
          </a:p>
        </p:txBody>
      </p:sp>
      <p:sp>
        <p:nvSpPr>
          <p:cNvPr id="161" name="Google Shape;161;p30"/>
          <p:cNvSpPr txBox="1">
            <a:spLocks noGrp="1"/>
          </p:cNvSpPr>
          <p:nvPr>
            <p:ph type="body" idx="1"/>
          </p:nvPr>
        </p:nvSpPr>
        <p:spPr>
          <a:xfrm>
            <a:off x="270225" y="794350"/>
            <a:ext cx="8520600" cy="3339000"/>
          </a:xfrm>
          <a:prstGeom prst="rect">
            <a:avLst/>
          </a:prstGeom>
          <a:noFill/>
          <a:ln>
            <a:noFill/>
          </a:ln>
        </p:spPr>
        <p:txBody>
          <a:bodyPr spcFirstLastPara="1" wrap="square" lIns="91425" tIns="91425" rIns="91425" bIns="91425" anchor="t" anchorCtr="0">
            <a:normAutofit/>
          </a:bodyPr>
          <a:lstStyle/>
          <a:p>
            <a:pPr marL="457200" lvl="0" indent="-311150" algn="just" rtl="0">
              <a:lnSpc>
                <a:spcPct val="150000"/>
              </a:lnSpc>
              <a:spcBef>
                <a:spcPts val="1200"/>
              </a:spcBef>
              <a:spcAft>
                <a:spcPts val="0"/>
              </a:spcAft>
              <a:buClr>
                <a:schemeClr val="dk1"/>
              </a:buClr>
              <a:buSzPts val="1300"/>
              <a:buChar char="●"/>
            </a:pPr>
            <a:r>
              <a:rPr lang="en-GB" sz="1400">
                <a:solidFill>
                  <a:srgbClr val="000000"/>
                </a:solidFill>
                <a:latin typeface="Arial"/>
                <a:ea typeface="Arial"/>
                <a:cs typeface="Arial"/>
                <a:sym typeface="Arial"/>
              </a:rPr>
              <a:t>Time-series data for India from 1977 to 2019 make up our sample. The PovcalNet poverty and inequality dataset from the World Bank contains information on poverty and the Gini coefficient, a measure of income inequality. Real GDP per capita, trade, foreign assistance, financial development, inflation, age dependence ratio, foreign direct investment flows, and international remittances are some of the other factors we utilise. These data are obtained from the World Bank, World Development Indicators. We use the international poverty line of "$2.15 a day" in 2017 PPP . Variable definitions and sources of data are available below.</a:t>
            </a:r>
            <a:endParaRPr sz="1400">
              <a:solidFill>
                <a:srgbClr val="000000"/>
              </a:solidFill>
              <a:latin typeface="Arial"/>
              <a:ea typeface="Arial"/>
              <a:cs typeface="Arial"/>
              <a:sym typeface="Arial"/>
            </a:endParaRPr>
          </a:p>
          <a:p>
            <a:pPr marL="457200" lvl="0" indent="-311150" algn="just" rtl="0">
              <a:lnSpc>
                <a:spcPct val="150000"/>
              </a:lnSpc>
              <a:spcBef>
                <a:spcPts val="0"/>
              </a:spcBef>
              <a:spcAft>
                <a:spcPts val="0"/>
              </a:spcAft>
              <a:buClr>
                <a:schemeClr val="dk1"/>
              </a:buClr>
              <a:buSzPts val="1300"/>
              <a:buChar char="●"/>
            </a:pPr>
            <a:r>
              <a:rPr lang="en-GB" sz="1400">
                <a:solidFill>
                  <a:srgbClr val="000000"/>
                </a:solidFill>
                <a:latin typeface="Arial"/>
                <a:ea typeface="Arial"/>
                <a:cs typeface="Arial"/>
                <a:sym typeface="Arial"/>
              </a:rPr>
              <a:t>The explanatory factors are assessed as averages over three years since the dependent variable, which measures poverty, is accessible every three years. The amount of foreign help, for instance, that corresponds to the year 1990 is the average of the aid flows from 1988 to 1990.</a:t>
            </a:r>
            <a:endParaRPr sz="140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1"/>
          <p:cNvSpPr txBox="1">
            <a:spLocks noGrp="1"/>
          </p:cNvSpPr>
          <p:nvPr>
            <p:ph type="body" idx="1"/>
          </p:nvPr>
        </p:nvSpPr>
        <p:spPr>
          <a:xfrm>
            <a:off x="222200" y="761650"/>
            <a:ext cx="8772000" cy="3799200"/>
          </a:xfrm>
          <a:prstGeom prst="rect">
            <a:avLst/>
          </a:prstGeom>
          <a:noFill/>
          <a:ln>
            <a:noFill/>
          </a:ln>
        </p:spPr>
        <p:txBody>
          <a:bodyPr spcFirstLastPara="1" wrap="square" lIns="91425" tIns="91425" rIns="91425" bIns="91425" anchor="t" anchorCtr="0">
            <a:noAutofit/>
          </a:bodyPr>
          <a:lstStyle/>
          <a:p>
            <a:pPr marL="0" lvl="0" indent="0" algn="just" rtl="0">
              <a:spcBef>
                <a:spcPts val="1200"/>
              </a:spcBef>
              <a:spcAft>
                <a:spcPts val="0"/>
              </a:spcAft>
              <a:buNone/>
            </a:pPr>
            <a:r>
              <a:rPr lang="en-GB" sz="1400">
                <a:solidFill>
                  <a:srgbClr val="000000"/>
                </a:solidFill>
                <a:latin typeface="Arial"/>
                <a:ea typeface="Arial"/>
                <a:cs typeface="Arial"/>
                <a:sym typeface="Arial"/>
              </a:rPr>
              <a:t>To examine the relative impact of growth and income distribution for poverty reduction, I will employ the Kernel Regression using Nadaraya-Watson Estimator .To test the effect of growth-enhancing policies on poverty, we expand the basic specification to include factors identified in the literature as determinants of growth, such as openness to international trade, financial development, government consumption, institutional quality, and international capital flows-foreign aid, FDI inflows, and international remittances. There is no specified relationship between poverty and growth as we are using non parametric analysis and the whole estimation of relationship depends on data.</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GB" sz="1400" b="1">
                <a:solidFill>
                  <a:srgbClr val="000000"/>
                </a:solidFill>
                <a:latin typeface="Arial"/>
                <a:ea typeface="Arial"/>
                <a:cs typeface="Arial"/>
                <a:sym typeface="Arial"/>
              </a:rPr>
              <a:t>Dependent Variable</a:t>
            </a:r>
            <a:r>
              <a:rPr lang="en-GB" sz="1400">
                <a:solidFill>
                  <a:srgbClr val="000000"/>
                </a:solidFill>
                <a:latin typeface="Arial"/>
                <a:ea typeface="Arial"/>
                <a:cs typeface="Arial"/>
                <a:sym typeface="Arial"/>
              </a:rPr>
              <a:t>:- Poverty Gap(Log of the average income shortfall as share of poverty line)</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GB" sz="1400" b="1">
                <a:solidFill>
                  <a:srgbClr val="000000"/>
                </a:solidFill>
                <a:latin typeface="Arial"/>
                <a:ea typeface="Arial"/>
                <a:cs typeface="Arial"/>
                <a:sym typeface="Arial"/>
              </a:rPr>
              <a:t>Independent Variable</a:t>
            </a:r>
            <a:r>
              <a:rPr lang="en-GB" sz="1400">
                <a:solidFill>
                  <a:srgbClr val="000000"/>
                </a:solidFill>
                <a:latin typeface="Arial"/>
                <a:ea typeface="Arial"/>
                <a:cs typeface="Arial"/>
                <a:sym typeface="Arial"/>
              </a:rPr>
              <a:t>:- Real GDP per Capita, Aid, Openness to Trade, Finance, Age dependency Ratio, Mean Household Income, Foreign Direct Investment, Remittances</a:t>
            </a:r>
            <a:endParaRPr sz="1400">
              <a:solidFill>
                <a:srgbClr val="000000"/>
              </a:solidFill>
              <a:latin typeface="Arial"/>
              <a:ea typeface="Arial"/>
              <a:cs typeface="Arial"/>
              <a:sym typeface="Arial"/>
            </a:endParaRPr>
          </a:p>
          <a:p>
            <a:pPr marL="0" lvl="0" indent="0" algn="just" rtl="0">
              <a:spcBef>
                <a:spcPts val="1200"/>
              </a:spcBef>
              <a:spcAft>
                <a:spcPts val="0"/>
              </a:spcAft>
              <a:buNone/>
            </a:pPr>
            <a:endParaRPr sz="1400">
              <a:solidFill>
                <a:srgbClr val="000000"/>
              </a:solidFill>
              <a:latin typeface="Arial"/>
              <a:ea typeface="Arial"/>
              <a:cs typeface="Arial"/>
              <a:sym typeface="Arial"/>
            </a:endParaRPr>
          </a:p>
          <a:p>
            <a:pPr marL="0" lvl="0" indent="0" algn="l" rtl="0">
              <a:lnSpc>
                <a:spcPct val="95000"/>
              </a:lnSpc>
              <a:spcBef>
                <a:spcPts val="1200"/>
              </a:spcBef>
              <a:spcAft>
                <a:spcPts val="1200"/>
              </a:spcAft>
              <a:buSzPts val="1260"/>
              <a:buNone/>
            </a:pPr>
            <a:endParaRPr sz="1260"/>
          </a:p>
        </p:txBody>
      </p:sp>
      <p:sp>
        <p:nvSpPr>
          <p:cNvPr id="167" name="Google Shape;167;p31"/>
          <p:cNvSpPr txBox="1">
            <a:spLocks noGrp="1"/>
          </p:cNvSpPr>
          <p:nvPr>
            <p:ph type="title"/>
          </p:nvPr>
        </p:nvSpPr>
        <p:spPr>
          <a:xfrm>
            <a:off x="311700" y="98550"/>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Model Specification</a:t>
            </a:r>
            <a:endParaRPr b="1" u="sn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0"/>
            <a:ext cx="4661744"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b="1" u="sng" dirty="0"/>
              <a:t>Data Source and Coverage</a:t>
            </a:r>
            <a:endParaRPr dirty="0"/>
          </a:p>
        </p:txBody>
      </p:sp>
      <p:sp>
        <p:nvSpPr>
          <p:cNvPr id="173" name="Google Shape;173;p32"/>
          <p:cNvSpPr txBox="1">
            <a:spLocks noGrp="1"/>
          </p:cNvSpPr>
          <p:nvPr>
            <p:ph type="body" idx="1"/>
          </p:nvPr>
        </p:nvSpPr>
        <p:spPr>
          <a:xfrm>
            <a:off x="1655575" y="498050"/>
            <a:ext cx="8678700" cy="3896700"/>
          </a:xfrm>
          <a:prstGeom prst="rect">
            <a:avLst/>
          </a:prstGeom>
        </p:spPr>
        <p:txBody>
          <a:bodyPr spcFirstLastPara="1" wrap="square" lIns="91425" tIns="91425" rIns="91425" bIns="91425" anchor="t" anchorCtr="0">
            <a:noAutofit/>
          </a:bodyPr>
          <a:lstStyle/>
          <a:p>
            <a:pPr marL="0" marR="0" lvl="0" indent="0" algn="l" rtl="0">
              <a:lnSpc>
                <a:spcPct val="95000"/>
              </a:lnSpc>
              <a:spcBef>
                <a:spcPts val="1200"/>
              </a:spcBef>
              <a:spcAft>
                <a:spcPts val="0"/>
              </a:spcAft>
              <a:buSzPts val="275"/>
              <a:buNone/>
            </a:pPr>
            <a:r>
              <a:rPr lang="en-GB" sz="1175" b="1">
                <a:solidFill>
                  <a:srgbClr val="000000"/>
                </a:solidFill>
                <a:latin typeface="Arial"/>
                <a:ea typeface="Arial"/>
                <a:cs typeface="Arial"/>
                <a:sym typeface="Arial"/>
              </a:rPr>
              <a:t>VARIABLE DEFINTIONS AND SOURCES</a:t>
            </a:r>
            <a:endParaRPr sz="1175" b="1">
              <a:solidFill>
                <a:srgbClr val="000000"/>
              </a:solidFill>
              <a:latin typeface="Arial"/>
              <a:ea typeface="Arial"/>
              <a:cs typeface="Arial"/>
              <a:sym typeface="Arial"/>
            </a:endParaRPr>
          </a:p>
          <a:p>
            <a:pPr marL="0" marR="0" lvl="0" indent="0" algn="l" rtl="0">
              <a:lnSpc>
                <a:spcPct val="95000"/>
              </a:lnSpc>
              <a:spcBef>
                <a:spcPts val="1200"/>
              </a:spcBef>
              <a:spcAft>
                <a:spcPts val="0"/>
              </a:spcAft>
              <a:buSzPts val="275"/>
              <a:buNone/>
            </a:pPr>
            <a:r>
              <a:rPr lang="en-GB" sz="1112" b="1">
                <a:solidFill>
                  <a:srgbClr val="000000"/>
                </a:solidFill>
                <a:latin typeface="Arial"/>
                <a:ea typeface="Arial"/>
                <a:cs typeface="Arial"/>
                <a:sym typeface="Arial"/>
              </a:rPr>
              <a:t>Variables                       	 	   Variable Definitions                   	                         Source</a:t>
            </a:r>
            <a:endParaRPr sz="1112" b="1">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Real GDP per capita        	Log GDP per capita, PPP(2017)                       	     World Development Indicator</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Aid                                    	Aid % of Gross National Income (GNI)                           World Development Indicator      </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Openness                  	Log of the sum of exports and imports of goods and      World Development Indicator</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                                   	services as share of Gross Domestic Product (GDP)                	</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Finance                        	Log of domestic credit to private sector as share of GDP       same as above</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Age Dependency ratio  	The ratio of dependents to working-age population            	same as above</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Headcount Index           	Log of proportion of people living below the poverty line        PovcalNet</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Poverty Gap Index         	Log of the average income shortfall as share of poverty line    PovcalNet</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Mean Household Income   Log of the mean annual household income in 1993 PPP    	    PovcalNet</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Foreign direct investment	Foreign direct investment, net inflows (% of GDP)    	  World Development indicator</a:t>
            </a:r>
            <a:endParaRPr sz="1100">
              <a:solidFill>
                <a:srgbClr val="000000"/>
              </a:solidFill>
              <a:latin typeface="Arial"/>
              <a:ea typeface="Arial"/>
              <a:cs typeface="Arial"/>
              <a:sym typeface="Arial"/>
            </a:endParaRPr>
          </a:p>
          <a:p>
            <a:pPr marL="0" marR="0" lvl="0" indent="0" algn="just" rtl="0">
              <a:lnSpc>
                <a:spcPct val="95000"/>
              </a:lnSpc>
              <a:spcBef>
                <a:spcPts val="1200"/>
              </a:spcBef>
              <a:spcAft>
                <a:spcPts val="0"/>
              </a:spcAft>
              <a:buSzPts val="275"/>
              <a:buNone/>
            </a:pPr>
            <a:r>
              <a:rPr lang="en-GB" sz="1100">
                <a:solidFill>
                  <a:srgbClr val="000000"/>
                </a:solidFill>
                <a:latin typeface="Arial"/>
                <a:ea typeface="Arial"/>
                <a:cs typeface="Arial"/>
                <a:sym typeface="Arial"/>
              </a:rPr>
              <a:t>Remittances                    	Workers' remittances and compensation of employees,      World Development indicator</a:t>
            </a:r>
            <a:endParaRPr sz="1100">
              <a:solidFill>
                <a:srgbClr val="000000"/>
              </a:solidFill>
              <a:latin typeface="Arial"/>
              <a:ea typeface="Arial"/>
              <a:cs typeface="Arial"/>
              <a:sym typeface="Arial"/>
            </a:endParaRPr>
          </a:p>
          <a:p>
            <a:pPr marL="0" lvl="0" indent="0" algn="l" rtl="0">
              <a:lnSpc>
                <a:spcPct val="95000"/>
              </a:lnSpc>
              <a:spcBef>
                <a:spcPts val="1200"/>
              </a:spcBef>
              <a:spcAft>
                <a:spcPts val="0"/>
              </a:spcAft>
              <a:buSzPts val="275"/>
              <a:buNone/>
            </a:pPr>
            <a:r>
              <a:rPr lang="en-GB" sz="1100">
                <a:solidFill>
                  <a:srgbClr val="000000"/>
                </a:solidFill>
                <a:latin typeface="Arial"/>
                <a:ea typeface="Arial"/>
                <a:cs typeface="Arial"/>
                <a:sym typeface="Arial"/>
              </a:rPr>
              <a:t>                                            received (% of GDP)  </a:t>
            </a:r>
            <a:endParaRPr sz="12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Data</a:t>
            </a:r>
            <a:endParaRPr b="1"/>
          </a:p>
        </p:txBody>
      </p:sp>
      <p:pic>
        <p:nvPicPr>
          <p:cNvPr id="179" name="Google Shape;179;p33"/>
          <p:cNvPicPr preferRelativeResize="0"/>
          <p:nvPr/>
        </p:nvPicPr>
        <p:blipFill>
          <a:blip r:embed="rId3">
            <a:alphaModFix/>
          </a:blip>
          <a:stretch>
            <a:fillRect/>
          </a:stretch>
        </p:blipFill>
        <p:spPr>
          <a:xfrm>
            <a:off x="0" y="1444313"/>
            <a:ext cx="9144000" cy="2254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311700" y="281775"/>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Summary Statistics</a:t>
            </a:r>
            <a:endParaRPr b="1"/>
          </a:p>
        </p:txBody>
      </p:sp>
      <p:pic>
        <p:nvPicPr>
          <p:cNvPr id="185" name="Google Shape;185;p34"/>
          <p:cNvPicPr preferRelativeResize="0"/>
          <p:nvPr/>
        </p:nvPicPr>
        <p:blipFill>
          <a:blip r:embed="rId3">
            <a:alphaModFix/>
          </a:blip>
          <a:stretch>
            <a:fillRect/>
          </a:stretch>
        </p:blipFill>
        <p:spPr>
          <a:xfrm>
            <a:off x="1135500" y="1145775"/>
            <a:ext cx="6615374" cy="3692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title"/>
          </p:nvPr>
        </p:nvSpPr>
        <p:spPr>
          <a:xfrm>
            <a:off x="311700" y="281750"/>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Correlation Map</a:t>
            </a:r>
            <a:endParaRPr b="1"/>
          </a:p>
        </p:txBody>
      </p:sp>
      <p:pic>
        <p:nvPicPr>
          <p:cNvPr id="191" name="Google Shape;191;p35"/>
          <p:cNvPicPr preferRelativeResize="0"/>
          <p:nvPr/>
        </p:nvPicPr>
        <p:blipFill>
          <a:blip r:embed="rId3">
            <a:alphaModFix/>
          </a:blip>
          <a:stretch>
            <a:fillRect/>
          </a:stretch>
        </p:blipFill>
        <p:spPr>
          <a:xfrm>
            <a:off x="0" y="1170200"/>
            <a:ext cx="9143999" cy="2796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6"/>
          <p:cNvSpPr txBox="1">
            <a:spLocks noGrp="1"/>
          </p:cNvSpPr>
          <p:nvPr>
            <p:ph type="body" idx="1"/>
          </p:nvPr>
        </p:nvSpPr>
        <p:spPr>
          <a:xfrm>
            <a:off x="311700" y="2571750"/>
            <a:ext cx="6862200" cy="1815300"/>
          </a:xfrm>
          <a:prstGeom prst="rect">
            <a:avLst/>
          </a:prstGeom>
        </p:spPr>
        <p:txBody>
          <a:bodyPr spcFirstLastPara="1" wrap="square" lIns="91425" tIns="91425" rIns="91425" bIns="91425" anchor="t" anchorCtr="0">
            <a:normAutofit fontScale="25000" lnSpcReduction="20000"/>
          </a:bodyPr>
          <a:lstStyle/>
          <a:p>
            <a:pPr marL="457200" lvl="0" indent="-317500" algn="just" rtl="0">
              <a:spcBef>
                <a:spcPts val="1200"/>
              </a:spcBef>
              <a:spcAft>
                <a:spcPts val="0"/>
              </a:spcAft>
              <a:buSzPct val="100000"/>
              <a:buChar char="●"/>
            </a:pPr>
            <a:r>
              <a:rPr lang="en-GB" sz="5600"/>
              <a:t>Real GDP appears to be strongly positively correlated with many of the other variables, such as aid, FDI, and remittances, suggesting that these factors may contribute to economic growth.</a:t>
            </a:r>
            <a:endParaRPr sz="5600"/>
          </a:p>
          <a:p>
            <a:pPr marL="457200" lvl="0" indent="-317500" algn="just" rtl="0">
              <a:spcBef>
                <a:spcPts val="0"/>
              </a:spcBef>
              <a:spcAft>
                <a:spcPts val="0"/>
              </a:spcAft>
              <a:buSzPct val="100000"/>
              <a:buFont typeface="Arial"/>
              <a:buChar char="●"/>
            </a:pPr>
            <a:r>
              <a:rPr lang="en-GB" sz="5600">
                <a:latin typeface="Arial"/>
                <a:ea typeface="Arial"/>
                <a:cs typeface="Arial"/>
                <a:sym typeface="Arial"/>
              </a:rPr>
              <a:t>Openness and financial development are strongly positively correlated with each other, suggesting that a more open economy may be associated with greater financial development, thus reducing the Poverty.</a:t>
            </a:r>
            <a:endParaRPr sz="5600">
              <a:latin typeface="Arial"/>
              <a:ea typeface="Arial"/>
              <a:cs typeface="Arial"/>
              <a:sym typeface="Arial"/>
            </a:endParaRPr>
          </a:p>
          <a:p>
            <a:pPr marL="0" lvl="0" indent="0" algn="just" rtl="0">
              <a:spcBef>
                <a:spcPts val="1200"/>
              </a:spcBef>
              <a:spcAft>
                <a:spcPts val="0"/>
              </a:spcAft>
              <a:buNone/>
            </a:pPr>
            <a:endParaRPr sz="5600">
              <a:latin typeface="Arial"/>
              <a:ea typeface="Arial"/>
              <a:cs typeface="Arial"/>
              <a:sym typeface="Arial"/>
            </a:endParaRPr>
          </a:p>
          <a:p>
            <a:pPr marL="457200" lvl="0" indent="-228600" algn="just" rtl="0">
              <a:spcBef>
                <a:spcPts val="1200"/>
              </a:spcBef>
              <a:spcAft>
                <a:spcPts val="0"/>
              </a:spcAft>
              <a:buNone/>
            </a:pPr>
            <a:endParaRPr sz="2215"/>
          </a:p>
          <a:p>
            <a:pPr marL="0" lvl="0" indent="0" algn="l" rtl="0">
              <a:spcBef>
                <a:spcPts val="1200"/>
              </a:spcBef>
              <a:spcAft>
                <a:spcPts val="0"/>
              </a:spcAft>
              <a:buNone/>
            </a:pPr>
            <a:endParaRPr/>
          </a:p>
        </p:txBody>
      </p:sp>
      <p:pic>
        <p:nvPicPr>
          <p:cNvPr id="197" name="Google Shape;197;p36"/>
          <p:cNvPicPr preferRelativeResize="0"/>
          <p:nvPr/>
        </p:nvPicPr>
        <p:blipFill>
          <a:blip r:embed="rId3">
            <a:alphaModFix/>
          </a:blip>
          <a:stretch>
            <a:fillRect/>
          </a:stretch>
        </p:blipFill>
        <p:spPr>
          <a:xfrm>
            <a:off x="280625" y="90150"/>
            <a:ext cx="3780024" cy="2329199"/>
          </a:xfrm>
          <a:prstGeom prst="rect">
            <a:avLst/>
          </a:prstGeom>
          <a:noFill/>
          <a:ln>
            <a:noFill/>
          </a:ln>
        </p:spPr>
      </p:pic>
      <p:pic>
        <p:nvPicPr>
          <p:cNvPr id="198" name="Google Shape;198;p36"/>
          <p:cNvPicPr preferRelativeResize="0"/>
          <p:nvPr/>
        </p:nvPicPr>
        <p:blipFill>
          <a:blip r:embed="rId4">
            <a:alphaModFix/>
          </a:blip>
          <a:stretch>
            <a:fillRect/>
          </a:stretch>
        </p:blipFill>
        <p:spPr>
          <a:xfrm>
            <a:off x="4784700" y="128050"/>
            <a:ext cx="3718481" cy="2291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156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Hypothesis</a:t>
            </a:r>
            <a:endParaRPr/>
          </a:p>
        </p:txBody>
      </p:sp>
      <p:sp>
        <p:nvSpPr>
          <p:cNvPr id="204" name="Google Shape;204;p37"/>
          <p:cNvSpPr txBox="1">
            <a:spLocks noGrp="1"/>
          </p:cNvSpPr>
          <p:nvPr>
            <p:ph type="body" idx="1"/>
          </p:nvPr>
        </p:nvSpPr>
        <p:spPr>
          <a:xfrm>
            <a:off x="375200" y="827700"/>
            <a:ext cx="8627100" cy="3699600"/>
          </a:xfrm>
          <a:prstGeom prst="rect">
            <a:avLst/>
          </a:prstGeom>
          <a:noFill/>
          <a:ln>
            <a:noFill/>
          </a:ln>
        </p:spPr>
        <p:txBody>
          <a:bodyPr spcFirstLastPara="1" wrap="square" lIns="91425" tIns="91425" rIns="91425" bIns="91425" anchor="t" anchorCtr="0">
            <a:normAutofit fontScale="92500" lnSpcReduction="20000"/>
          </a:bodyPr>
          <a:lstStyle/>
          <a:p>
            <a:pPr marL="0" lvl="0" indent="0" algn="just" rtl="0">
              <a:lnSpc>
                <a:spcPct val="107000"/>
              </a:lnSpc>
              <a:spcBef>
                <a:spcPts val="1200"/>
              </a:spcBef>
              <a:spcAft>
                <a:spcPts val="0"/>
              </a:spcAft>
              <a:buNone/>
            </a:pPr>
            <a:r>
              <a:rPr lang="en-GB" sz="1975">
                <a:solidFill>
                  <a:srgbClr val="333333"/>
                </a:solidFill>
                <a:highlight>
                  <a:srgbClr val="FFFFFF"/>
                </a:highlight>
                <a:latin typeface="Arial"/>
                <a:ea typeface="Arial"/>
                <a:cs typeface="Arial"/>
                <a:sym typeface="Arial"/>
              </a:rPr>
              <a:t> </a:t>
            </a:r>
            <a:r>
              <a:rPr lang="en-GB" sz="2020">
                <a:solidFill>
                  <a:srgbClr val="333333"/>
                </a:solidFill>
                <a:highlight>
                  <a:srgbClr val="FFFFFF"/>
                </a:highlight>
                <a:latin typeface="Arial"/>
                <a:ea typeface="Arial"/>
                <a:cs typeface="Arial"/>
                <a:sym typeface="Arial"/>
              </a:rPr>
              <a:t>Based on the above conclusions made by different authors, the hypothesis of my study would be:</a:t>
            </a:r>
            <a:endParaRPr sz="2020">
              <a:solidFill>
                <a:srgbClr val="333333"/>
              </a:solidFill>
              <a:highlight>
                <a:srgbClr val="FFFFFF"/>
              </a:highlight>
              <a:latin typeface="Arial"/>
              <a:ea typeface="Arial"/>
              <a:cs typeface="Arial"/>
              <a:sym typeface="Arial"/>
            </a:endParaRPr>
          </a:p>
          <a:p>
            <a:pPr marL="457200" lvl="0" indent="-356396" algn="just" rtl="0">
              <a:lnSpc>
                <a:spcPct val="107000"/>
              </a:lnSpc>
              <a:spcBef>
                <a:spcPts val="1200"/>
              </a:spcBef>
              <a:spcAft>
                <a:spcPts val="0"/>
              </a:spcAft>
              <a:buClr>
                <a:srgbClr val="333333"/>
              </a:buClr>
              <a:buSzPct val="100000"/>
              <a:buFont typeface="Arial"/>
              <a:buAutoNum type="arabicPeriod"/>
            </a:pPr>
            <a:r>
              <a:rPr lang="en-GB" sz="2175">
                <a:solidFill>
                  <a:srgbClr val="333333"/>
                </a:solidFill>
                <a:highlight>
                  <a:srgbClr val="FFFFFF"/>
                </a:highlight>
                <a:latin typeface="Arial"/>
                <a:ea typeface="Arial"/>
                <a:cs typeface="Arial"/>
                <a:sym typeface="Arial"/>
              </a:rPr>
              <a:t>There exists a negative relation between the growth in average Income and the average Poverty gap.</a:t>
            </a:r>
            <a:endParaRPr sz="2175">
              <a:solidFill>
                <a:srgbClr val="333333"/>
              </a:solidFill>
              <a:highlight>
                <a:srgbClr val="FFFFFF"/>
              </a:highlight>
              <a:latin typeface="Arial"/>
              <a:ea typeface="Arial"/>
              <a:cs typeface="Arial"/>
              <a:sym typeface="Arial"/>
            </a:endParaRPr>
          </a:p>
          <a:p>
            <a:pPr marL="457200" lvl="0" indent="-356396" algn="just" rtl="0">
              <a:lnSpc>
                <a:spcPct val="150000"/>
              </a:lnSpc>
              <a:spcBef>
                <a:spcPts val="0"/>
              </a:spcBef>
              <a:spcAft>
                <a:spcPts val="0"/>
              </a:spcAft>
              <a:buClr>
                <a:srgbClr val="333333"/>
              </a:buClr>
              <a:buSzPct val="100000"/>
              <a:buFont typeface="Arial"/>
              <a:buAutoNum type="arabicPeriod"/>
            </a:pPr>
            <a:r>
              <a:rPr lang="en-GB" sz="2175">
                <a:solidFill>
                  <a:srgbClr val="333333"/>
                </a:solidFill>
                <a:highlight>
                  <a:srgbClr val="FFFFFF"/>
                </a:highlight>
                <a:latin typeface="Arial"/>
                <a:ea typeface="Arial"/>
                <a:cs typeface="Arial"/>
                <a:sym typeface="Arial"/>
              </a:rPr>
              <a:t>Openness to Trade and Foreign Direct Investment have a large poverty-reducing effect.</a:t>
            </a:r>
            <a:endParaRPr sz="2175">
              <a:solidFill>
                <a:srgbClr val="333333"/>
              </a:solidFill>
              <a:highlight>
                <a:srgbClr val="FFFFFF"/>
              </a:highlight>
              <a:latin typeface="Arial"/>
              <a:ea typeface="Arial"/>
              <a:cs typeface="Arial"/>
              <a:sym typeface="Arial"/>
            </a:endParaRPr>
          </a:p>
          <a:p>
            <a:pPr marL="457200" lvl="0" indent="-356396" algn="just" rtl="0">
              <a:lnSpc>
                <a:spcPct val="150000"/>
              </a:lnSpc>
              <a:spcBef>
                <a:spcPts val="0"/>
              </a:spcBef>
              <a:spcAft>
                <a:spcPts val="0"/>
              </a:spcAft>
              <a:buClr>
                <a:srgbClr val="333333"/>
              </a:buClr>
              <a:buSzPct val="100000"/>
              <a:buFont typeface="Arial"/>
              <a:buAutoNum type="arabicPeriod"/>
            </a:pPr>
            <a:r>
              <a:rPr lang="en-GB" sz="2175">
                <a:solidFill>
                  <a:srgbClr val="333333"/>
                </a:solidFill>
                <a:highlight>
                  <a:srgbClr val="FFFFFF"/>
                </a:highlight>
                <a:latin typeface="Arial"/>
                <a:ea typeface="Arial"/>
                <a:cs typeface="Arial"/>
                <a:sym typeface="Arial"/>
              </a:rPr>
              <a:t>Financial Development plays a critical role in alleviation of poverty.</a:t>
            </a:r>
            <a:endParaRPr sz="2175">
              <a:solidFill>
                <a:srgbClr val="333333"/>
              </a:solidFill>
              <a:highlight>
                <a:srgbClr val="FFFFFF"/>
              </a:highlight>
              <a:latin typeface="Arial"/>
              <a:ea typeface="Arial"/>
              <a:cs typeface="Arial"/>
              <a:sym typeface="Arial"/>
            </a:endParaRPr>
          </a:p>
          <a:p>
            <a:pPr marL="457200" lvl="0" indent="-356396" algn="just" rtl="0">
              <a:lnSpc>
                <a:spcPct val="150000"/>
              </a:lnSpc>
              <a:spcBef>
                <a:spcPts val="0"/>
              </a:spcBef>
              <a:spcAft>
                <a:spcPts val="0"/>
              </a:spcAft>
              <a:buClr>
                <a:srgbClr val="333333"/>
              </a:buClr>
              <a:buSzPct val="100000"/>
              <a:buFont typeface="Arial"/>
              <a:buAutoNum type="arabicPeriod"/>
            </a:pPr>
            <a:r>
              <a:rPr lang="en-GB" sz="2175">
                <a:solidFill>
                  <a:srgbClr val="333333"/>
                </a:solidFill>
                <a:highlight>
                  <a:srgbClr val="FFFFFF"/>
                </a:highlight>
                <a:latin typeface="Arial"/>
                <a:ea typeface="Arial"/>
                <a:cs typeface="Arial"/>
                <a:sym typeface="Arial"/>
              </a:rPr>
              <a:t>There is a negative relation between the mean annual household income and poverty gap.</a:t>
            </a:r>
            <a:endParaRPr sz="2175">
              <a:solidFill>
                <a:srgbClr val="333333"/>
              </a:solidFill>
              <a:highlight>
                <a:srgbClr val="FFFFFF"/>
              </a:highlight>
              <a:latin typeface="Arial"/>
              <a:ea typeface="Arial"/>
              <a:cs typeface="Arial"/>
              <a:sym typeface="Arial"/>
            </a:endParaRPr>
          </a:p>
          <a:p>
            <a:pPr marL="457200" lvl="0" indent="-356396" algn="just" rtl="0">
              <a:lnSpc>
                <a:spcPct val="150000"/>
              </a:lnSpc>
              <a:spcBef>
                <a:spcPts val="0"/>
              </a:spcBef>
              <a:spcAft>
                <a:spcPts val="0"/>
              </a:spcAft>
              <a:buClr>
                <a:srgbClr val="333333"/>
              </a:buClr>
              <a:buSzPct val="100000"/>
              <a:buFont typeface="Arial"/>
              <a:buAutoNum type="arabicPeriod"/>
            </a:pPr>
            <a:r>
              <a:rPr lang="en-GB" sz="2175">
                <a:solidFill>
                  <a:srgbClr val="333333"/>
                </a:solidFill>
                <a:highlight>
                  <a:srgbClr val="FFFFFF"/>
                </a:highlight>
                <a:latin typeface="Arial"/>
                <a:ea typeface="Arial"/>
                <a:cs typeface="Arial"/>
                <a:sym typeface="Arial"/>
              </a:rPr>
              <a:t>Age Dependency Ratio is positively correlated with the Poverty Gap.</a:t>
            </a:r>
            <a:endParaRPr sz="2175">
              <a:solidFill>
                <a:srgbClr val="333333"/>
              </a:solidFill>
              <a:highlight>
                <a:srgbClr val="FFFFFF"/>
              </a:highlight>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311700" y="0"/>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 Econometric Methodology</a:t>
            </a:r>
            <a:endParaRPr b="1" u="sng"/>
          </a:p>
        </p:txBody>
      </p:sp>
      <p:sp>
        <p:nvSpPr>
          <p:cNvPr id="210" name="Google Shape;210;p38"/>
          <p:cNvSpPr txBox="1"/>
          <p:nvPr/>
        </p:nvSpPr>
        <p:spPr>
          <a:xfrm>
            <a:off x="251475" y="607800"/>
            <a:ext cx="8225400" cy="1745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en-GB"/>
              <a:t>We use Kernel Regression for non-parametric analysis using a time series data on India’s variables. We will be using one of the kernel regression methods called Nadaraya-Watson Estimator for estimating poverty. </a:t>
            </a:r>
            <a:endParaRPr/>
          </a:p>
          <a:p>
            <a:pPr marL="0" lvl="0" indent="0" algn="just" rtl="0">
              <a:lnSpc>
                <a:spcPct val="115000"/>
              </a:lnSpc>
              <a:spcBef>
                <a:spcPts val="1200"/>
              </a:spcBef>
              <a:spcAft>
                <a:spcPts val="0"/>
              </a:spcAft>
              <a:buNone/>
            </a:pPr>
            <a:r>
              <a:rPr lang="en-GB"/>
              <a:t>The Kernel Density Function K(z) used is Gaussian.  K(z)= exp(-z</a:t>
            </a:r>
            <a:r>
              <a:rPr lang="en-GB" baseline="30000"/>
              <a:t>2</a:t>
            </a:r>
            <a:r>
              <a:rPr lang="en-GB"/>
              <a:t>/2)      Y is the dependent Variable</a:t>
            </a:r>
            <a:endParaRPr/>
          </a:p>
          <a:p>
            <a:pPr marL="0" lvl="0" indent="0" algn="just" rtl="0">
              <a:lnSpc>
                <a:spcPct val="115000"/>
              </a:lnSpc>
              <a:spcBef>
                <a:spcPts val="1200"/>
              </a:spcBef>
              <a:spcAft>
                <a:spcPts val="1200"/>
              </a:spcAft>
              <a:buNone/>
            </a:pPr>
            <a:endParaRPr sz="1700"/>
          </a:p>
        </p:txBody>
      </p:sp>
      <p:pic>
        <p:nvPicPr>
          <p:cNvPr id="211" name="Google Shape;211;p38"/>
          <p:cNvPicPr preferRelativeResize="0"/>
          <p:nvPr/>
        </p:nvPicPr>
        <p:blipFill>
          <a:blip r:embed="rId3">
            <a:alphaModFix/>
          </a:blip>
          <a:stretch>
            <a:fillRect/>
          </a:stretch>
        </p:blipFill>
        <p:spPr>
          <a:xfrm>
            <a:off x="435925" y="2055025"/>
            <a:ext cx="4794725" cy="2795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9"/>
          <p:cNvSpPr txBox="1">
            <a:spLocks noGrp="1"/>
          </p:cNvSpPr>
          <p:nvPr>
            <p:ph type="title"/>
          </p:nvPr>
        </p:nvSpPr>
        <p:spPr>
          <a:xfrm>
            <a:off x="254618" y="432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b="1" u="sng"/>
              <a:t> Econometric Methodology</a:t>
            </a:r>
            <a:endParaRPr/>
          </a:p>
        </p:txBody>
      </p:sp>
      <p:pic>
        <p:nvPicPr>
          <p:cNvPr id="217" name="Google Shape;217;p39"/>
          <p:cNvPicPr preferRelativeResize="0"/>
          <p:nvPr/>
        </p:nvPicPr>
        <p:blipFill>
          <a:blip r:embed="rId3">
            <a:alphaModFix/>
          </a:blip>
          <a:stretch>
            <a:fillRect/>
          </a:stretch>
        </p:blipFill>
        <p:spPr>
          <a:xfrm>
            <a:off x="1774775" y="562525"/>
            <a:ext cx="5713299" cy="45313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0"/>
          <p:cNvSpPr txBox="1">
            <a:spLocks noGrp="1"/>
          </p:cNvSpPr>
          <p:nvPr>
            <p:ph type="title"/>
          </p:nvPr>
        </p:nvSpPr>
        <p:spPr>
          <a:xfrm>
            <a:off x="311700" y="1834775"/>
            <a:ext cx="8493600" cy="65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3200" b="1"/>
              <a:t>Results and conclusions</a:t>
            </a:r>
            <a:endParaRPr sz="3200" b="1"/>
          </a:p>
          <a:p>
            <a:pPr marL="0" lvl="0" indent="0" algn="ctr" rtl="0">
              <a:spcBef>
                <a:spcPts val="0"/>
              </a:spcBef>
              <a:spcAft>
                <a:spcPts val="0"/>
              </a:spcAft>
              <a:buSzPts val="990"/>
              <a:buNone/>
            </a:pPr>
            <a:endParaRPr sz="32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1"/>
          <p:cNvSpPr txBox="1">
            <a:spLocks noGrp="1"/>
          </p:cNvSpPr>
          <p:nvPr>
            <p:ph type="title"/>
          </p:nvPr>
        </p:nvSpPr>
        <p:spPr>
          <a:xfrm>
            <a:off x="276075" y="139275"/>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Changes in Poverty over Time</a:t>
            </a:r>
            <a:endParaRPr b="1"/>
          </a:p>
        </p:txBody>
      </p:sp>
      <p:sp>
        <p:nvSpPr>
          <p:cNvPr id="228" name="Google Shape;228;p41"/>
          <p:cNvSpPr txBox="1">
            <a:spLocks noGrp="1"/>
          </p:cNvSpPr>
          <p:nvPr>
            <p:ph type="body" idx="1"/>
          </p:nvPr>
        </p:nvSpPr>
        <p:spPr>
          <a:xfrm>
            <a:off x="5248625" y="1280875"/>
            <a:ext cx="3485400" cy="2158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Poverty has decreased over time due to several other factors which we will see in the upcoming slides.</a:t>
            </a:r>
            <a:endParaRPr/>
          </a:p>
        </p:txBody>
      </p:sp>
      <p:pic>
        <p:nvPicPr>
          <p:cNvPr id="229" name="Google Shape;229;p41"/>
          <p:cNvPicPr preferRelativeResize="0"/>
          <p:nvPr/>
        </p:nvPicPr>
        <p:blipFill>
          <a:blip r:embed="rId3">
            <a:alphaModFix/>
          </a:blip>
          <a:stretch>
            <a:fillRect/>
          </a:stretch>
        </p:blipFill>
        <p:spPr>
          <a:xfrm>
            <a:off x="39300" y="1025512"/>
            <a:ext cx="5018726" cy="3092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2"/>
          <p:cNvSpPr txBox="1">
            <a:spLocks noGrp="1"/>
          </p:cNvSpPr>
          <p:nvPr>
            <p:ph type="title"/>
          </p:nvPr>
        </p:nvSpPr>
        <p:spPr>
          <a:xfrm>
            <a:off x="311700" y="96550"/>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Relationship Between GDP and Poverty</a:t>
            </a:r>
            <a:endParaRPr b="1"/>
          </a:p>
        </p:txBody>
      </p:sp>
      <p:pic>
        <p:nvPicPr>
          <p:cNvPr id="235" name="Google Shape;235;p42"/>
          <p:cNvPicPr preferRelativeResize="0"/>
          <p:nvPr/>
        </p:nvPicPr>
        <p:blipFill>
          <a:blip r:embed="rId3">
            <a:alphaModFix/>
          </a:blip>
          <a:stretch>
            <a:fillRect/>
          </a:stretch>
        </p:blipFill>
        <p:spPr>
          <a:xfrm>
            <a:off x="1356350" y="704350"/>
            <a:ext cx="6361476" cy="3919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3"/>
          <p:cNvSpPr txBox="1">
            <a:spLocks noGrp="1"/>
          </p:cNvSpPr>
          <p:nvPr>
            <p:ph type="body" idx="1"/>
          </p:nvPr>
        </p:nvSpPr>
        <p:spPr>
          <a:xfrm>
            <a:off x="1558400" y="3010800"/>
            <a:ext cx="5480100" cy="1646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t>As we can see there is constant decrease of poverty gap in the India Economy with respect to GDP growth which is expected as income growth promotes employment and reduces poverty among the people.</a:t>
            </a:r>
            <a:endParaRPr/>
          </a:p>
        </p:txBody>
      </p:sp>
      <p:pic>
        <p:nvPicPr>
          <p:cNvPr id="241" name="Google Shape;241;p43"/>
          <p:cNvPicPr preferRelativeResize="0"/>
          <p:nvPr/>
        </p:nvPicPr>
        <p:blipFill>
          <a:blip r:embed="rId3">
            <a:alphaModFix/>
          </a:blip>
          <a:stretch>
            <a:fillRect/>
          </a:stretch>
        </p:blipFill>
        <p:spPr>
          <a:xfrm>
            <a:off x="2223136" y="0"/>
            <a:ext cx="4886188" cy="3010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4"/>
          <p:cNvSpPr txBox="1">
            <a:spLocks noGrp="1"/>
          </p:cNvSpPr>
          <p:nvPr>
            <p:ph type="title"/>
          </p:nvPr>
        </p:nvSpPr>
        <p:spPr>
          <a:xfrm>
            <a:off x="155100" y="174900"/>
            <a:ext cx="88338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Relationship Between Mean Annual Income and Poverty</a:t>
            </a:r>
            <a:endParaRPr/>
          </a:p>
        </p:txBody>
      </p:sp>
      <p:pic>
        <p:nvPicPr>
          <p:cNvPr id="247" name="Google Shape;247;p44"/>
          <p:cNvPicPr preferRelativeResize="0"/>
          <p:nvPr/>
        </p:nvPicPr>
        <p:blipFill>
          <a:blip r:embed="rId3">
            <a:alphaModFix/>
          </a:blip>
          <a:stretch>
            <a:fillRect/>
          </a:stretch>
        </p:blipFill>
        <p:spPr>
          <a:xfrm>
            <a:off x="1214722" y="913122"/>
            <a:ext cx="6094474" cy="3755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5"/>
          <p:cNvSpPr txBox="1">
            <a:spLocks noGrp="1"/>
          </p:cNvSpPr>
          <p:nvPr>
            <p:ph type="body" idx="1"/>
          </p:nvPr>
        </p:nvSpPr>
        <p:spPr>
          <a:xfrm>
            <a:off x="618025" y="2600250"/>
            <a:ext cx="6513000" cy="199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As we can see there is constant decrease of poverty gap in the India Economy with respect to income growth which is expected as income growth promotes employment and reduces poverty among the people.</a:t>
            </a:r>
            <a:endParaRPr/>
          </a:p>
        </p:txBody>
      </p:sp>
      <p:pic>
        <p:nvPicPr>
          <p:cNvPr id="253" name="Google Shape;253;p45"/>
          <p:cNvPicPr preferRelativeResize="0"/>
          <p:nvPr/>
        </p:nvPicPr>
        <p:blipFill>
          <a:blip r:embed="rId3">
            <a:alphaModFix/>
          </a:blip>
          <a:stretch>
            <a:fillRect/>
          </a:stretch>
        </p:blipFill>
        <p:spPr>
          <a:xfrm>
            <a:off x="2607600" y="89000"/>
            <a:ext cx="3825324" cy="2357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6"/>
          <p:cNvSpPr txBox="1">
            <a:spLocks noGrp="1"/>
          </p:cNvSpPr>
          <p:nvPr>
            <p:ph type="title"/>
          </p:nvPr>
        </p:nvSpPr>
        <p:spPr>
          <a:xfrm>
            <a:off x="387900" y="89375"/>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Relationship Between Financial Aid and Poverty</a:t>
            </a:r>
            <a:endParaRPr/>
          </a:p>
        </p:txBody>
      </p:sp>
      <p:pic>
        <p:nvPicPr>
          <p:cNvPr id="259" name="Google Shape;259;p46"/>
          <p:cNvPicPr preferRelativeResize="0"/>
          <p:nvPr/>
        </p:nvPicPr>
        <p:blipFill>
          <a:blip r:embed="rId3">
            <a:alphaModFix/>
          </a:blip>
          <a:stretch>
            <a:fillRect/>
          </a:stretch>
        </p:blipFill>
        <p:spPr>
          <a:xfrm>
            <a:off x="1471550" y="782675"/>
            <a:ext cx="6200897" cy="3820900"/>
          </a:xfrm>
          <a:prstGeom prst="rect">
            <a:avLst/>
          </a:prstGeom>
          <a:noFill/>
          <a:ln>
            <a:noFill/>
          </a:ln>
        </p:spPr>
      </p:pic>
      <p:sp>
        <p:nvSpPr>
          <p:cNvPr id="260" name="Google Shape;260;p46"/>
          <p:cNvSpPr/>
          <p:nvPr/>
        </p:nvSpPr>
        <p:spPr>
          <a:xfrm rot="10800000" flipH="1">
            <a:off x="2330775" y="1992075"/>
            <a:ext cx="554400" cy="1965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6"/>
          <p:cNvSpPr/>
          <p:nvPr/>
        </p:nvSpPr>
        <p:spPr>
          <a:xfrm rot="10800000" flipH="1">
            <a:off x="4470775" y="2077425"/>
            <a:ext cx="554400" cy="1965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6"/>
          <p:cNvSpPr txBox="1"/>
          <p:nvPr/>
        </p:nvSpPr>
        <p:spPr>
          <a:xfrm>
            <a:off x="2276775" y="1769625"/>
            <a:ext cx="74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latin typeface="Roboto"/>
                <a:ea typeface="Roboto"/>
                <a:cs typeface="Roboto"/>
                <a:sym typeface="Roboto"/>
              </a:rPr>
              <a:t>2004-2019</a:t>
            </a:r>
            <a:endParaRPr sz="800">
              <a:latin typeface="Roboto"/>
              <a:ea typeface="Roboto"/>
              <a:cs typeface="Roboto"/>
              <a:sym typeface="Roboto"/>
            </a:endParaRPr>
          </a:p>
        </p:txBody>
      </p:sp>
      <p:sp>
        <p:nvSpPr>
          <p:cNvPr id="263" name="Google Shape;263;p46"/>
          <p:cNvSpPr txBox="1"/>
          <p:nvPr/>
        </p:nvSpPr>
        <p:spPr>
          <a:xfrm>
            <a:off x="4423900" y="2273925"/>
            <a:ext cx="74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latin typeface="Roboto"/>
                <a:ea typeface="Roboto"/>
                <a:cs typeface="Roboto"/>
                <a:sym typeface="Roboto"/>
              </a:rPr>
              <a:t>1991-1993</a:t>
            </a:r>
            <a:endParaRPr sz="8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7"/>
          <p:cNvSpPr txBox="1">
            <a:spLocks noGrp="1"/>
          </p:cNvSpPr>
          <p:nvPr>
            <p:ph type="body" idx="1"/>
          </p:nvPr>
        </p:nvSpPr>
        <p:spPr>
          <a:xfrm>
            <a:off x="726650" y="3154500"/>
            <a:ext cx="6062400" cy="1443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As we can see , there is continuous decrease in poverty as financial Aid to the country decreased, because due to financial development the Aid was no longer needed and the development also decreased poverty.</a:t>
            </a:r>
            <a:endParaRPr/>
          </a:p>
        </p:txBody>
      </p:sp>
      <p:sp>
        <p:nvSpPr>
          <p:cNvPr id="269" name="Google Shape;269;p47"/>
          <p:cNvSpPr txBox="1"/>
          <p:nvPr/>
        </p:nvSpPr>
        <p:spPr>
          <a:xfrm>
            <a:off x="5278850" y="361900"/>
            <a:ext cx="37542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a:latin typeface="Roboto"/>
                <a:ea typeface="Roboto"/>
                <a:cs typeface="Roboto"/>
                <a:sym typeface="Roboto"/>
              </a:rPr>
              <a:t>As we can see during years 1991-1992 , there was a sudden increase in financial Aid, due to the Economic Crisis of 1991, which caused the rate at which poverty was declining to decrease, and as the economy progressed we can see that during recent years of 2004-2019, there is a steep decrease in poverty with respect to Aid.</a:t>
            </a:r>
            <a:endParaRPr sz="1500">
              <a:latin typeface="Roboto"/>
              <a:ea typeface="Roboto"/>
              <a:cs typeface="Roboto"/>
              <a:sym typeface="Roboto"/>
            </a:endParaRPr>
          </a:p>
        </p:txBody>
      </p:sp>
      <p:pic>
        <p:nvPicPr>
          <p:cNvPr id="270" name="Google Shape;270;p47"/>
          <p:cNvPicPr preferRelativeResize="0"/>
          <p:nvPr/>
        </p:nvPicPr>
        <p:blipFill>
          <a:blip r:embed="rId3">
            <a:alphaModFix/>
          </a:blip>
          <a:stretch>
            <a:fillRect/>
          </a:stretch>
        </p:blipFill>
        <p:spPr>
          <a:xfrm>
            <a:off x="474325" y="92625"/>
            <a:ext cx="4676300" cy="2932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8"/>
          <p:cNvSpPr txBox="1">
            <a:spLocks noGrp="1"/>
          </p:cNvSpPr>
          <p:nvPr>
            <p:ph type="title"/>
          </p:nvPr>
        </p:nvSpPr>
        <p:spPr>
          <a:xfrm>
            <a:off x="233325" y="117900"/>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Relationship Between Openness to Trade and Poverty</a:t>
            </a:r>
            <a:endParaRPr/>
          </a:p>
          <a:p>
            <a:pPr marL="0" lvl="0" indent="0" algn="l" rtl="0">
              <a:spcBef>
                <a:spcPts val="0"/>
              </a:spcBef>
              <a:spcAft>
                <a:spcPts val="0"/>
              </a:spcAft>
              <a:buNone/>
            </a:pPr>
            <a:endParaRPr/>
          </a:p>
        </p:txBody>
      </p:sp>
      <p:pic>
        <p:nvPicPr>
          <p:cNvPr id="276" name="Google Shape;276;p48"/>
          <p:cNvPicPr preferRelativeResize="0"/>
          <p:nvPr/>
        </p:nvPicPr>
        <p:blipFill>
          <a:blip r:embed="rId3">
            <a:alphaModFix/>
          </a:blip>
          <a:stretch>
            <a:fillRect/>
          </a:stretch>
        </p:blipFill>
        <p:spPr>
          <a:xfrm>
            <a:off x="1164000" y="757000"/>
            <a:ext cx="6547749" cy="4034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9"/>
          <p:cNvSpPr txBox="1">
            <a:spLocks noGrp="1"/>
          </p:cNvSpPr>
          <p:nvPr>
            <p:ph type="body" idx="1"/>
          </p:nvPr>
        </p:nvSpPr>
        <p:spPr>
          <a:xfrm>
            <a:off x="945275" y="2662950"/>
            <a:ext cx="7059900" cy="178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700"/>
              <a:t>There was a large jump in exports and imports of India(i.e. Openness to trade increased a lot) due to the new Economic Policy Reforms of 1991 which caused a steep decline in poverty in India. And as can be seen from the general trend removing the restrictions on trade has always reduced poverty in the long run.</a:t>
            </a:r>
            <a:endParaRPr sz="1700"/>
          </a:p>
        </p:txBody>
      </p:sp>
      <p:pic>
        <p:nvPicPr>
          <p:cNvPr id="282" name="Google Shape;282;p49"/>
          <p:cNvPicPr preferRelativeResize="0"/>
          <p:nvPr/>
        </p:nvPicPr>
        <p:blipFill>
          <a:blip r:embed="rId3">
            <a:alphaModFix/>
          </a:blip>
          <a:stretch>
            <a:fillRect/>
          </a:stretch>
        </p:blipFill>
        <p:spPr>
          <a:xfrm>
            <a:off x="2432050" y="108725"/>
            <a:ext cx="4086351" cy="25179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0"/>
          <p:cNvSpPr txBox="1">
            <a:spLocks noGrp="1"/>
          </p:cNvSpPr>
          <p:nvPr>
            <p:ph type="title"/>
          </p:nvPr>
        </p:nvSpPr>
        <p:spPr>
          <a:xfrm>
            <a:off x="155850" y="196275"/>
            <a:ext cx="8832300" cy="607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GB" sz="2600" b="1"/>
              <a:t>Relationship Between Age Dependency Ratio and Poverty</a:t>
            </a:r>
            <a:endParaRPr sz="2600"/>
          </a:p>
        </p:txBody>
      </p:sp>
      <p:pic>
        <p:nvPicPr>
          <p:cNvPr id="288" name="Google Shape;288;p50"/>
          <p:cNvPicPr preferRelativeResize="0"/>
          <p:nvPr/>
        </p:nvPicPr>
        <p:blipFill>
          <a:blip r:embed="rId3">
            <a:alphaModFix/>
          </a:blip>
          <a:stretch>
            <a:fillRect/>
          </a:stretch>
        </p:blipFill>
        <p:spPr>
          <a:xfrm>
            <a:off x="1221000" y="804075"/>
            <a:ext cx="6200897" cy="3820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51"/>
          <p:cNvSpPr txBox="1">
            <a:spLocks noGrp="1"/>
          </p:cNvSpPr>
          <p:nvPr>
            <p:ph type="body" idx="1"/>
          </p:nvPr>
        </p:nvSpPr>
        <p:spPr>
          <a:xfrm>
            <a:off x="1011575" y="2804250"/>
            <a:ext cx="6133800" cy="19389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GB"/>
              <a:t>The increase in the Youth Age-Dependency Ratio negatively affects the mental force of the Working-age population due to the education expenditure pressure which causes an immense load on the financials, thus increasing the income shortfall below poverty line and thus increasing the poverty.</a:t>
            </a:r>
            <a:endParaRPr/>
          </a:p>
          <a:p>
            <a:pPr marL="0" lvl="0" indent="0" algn="l" rtl="0">
              <a:spcBef>
                <a:spcPts val="0"/>
              </a:spcBef>
              <a:spcAft>
                <a:spcPts val="0"/>
              </a:spcAft>
              <a:buNone/>
            </a:pPr>
            <a:r>
              <a:rPr lang="en-GB"/>
              <a:t>The above graph supports this Hypothesis.</a:t>
            </a:r>
            <a:endParaRPr/>
          </a:p>
        </p:txBody>
      </p:sp>
      <p:pic>
        <p:nvPicPr>
          <p:cNvPr id="294" name="Google Shape;294;p51"/>
          <p:cNvPicPr preferRelativeResize="0"/>
          <p:nvPr/>
        </p:nvPicPr>
        <p:blipFill>
          <a:blip r:embed="rId3">
            <a:alphaModFix/>
          </a:blip>
          <a:stretch>
            <a:fillRect/>
          </a:stretch>
        </p:blipFill>
        <p:spPr>
          <a:xfrm>
            <a:off x="2159975" y="70325"/>
            <a:ext cx="4321449" cy="2662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2"/>
          <p:cNvSpPr txBox="1">
            <a:spLocks noGrp="1"/>
          </p:cNvSpPr>
          <p:nvPr>
            <p:ph type="title"/>
          </p:nvPr>
        </p:nvSpPr>
        <p:spPr>
          <a:xfrm>
            <a:off x="311688" y="182025"/>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rgbClr val="000000"/>
              </a:buClr>
              <a:buSzPct val="38076"/>
              <a:buFont typeface="Arial"/>
              <a:buNone/>
            </a:pPr>
            <a:r>
              <a:rPr lang="en-GB" sz="2600" b="1"/>
              <a:t>Relationship Between Foreign Direct Investment and Poverty</a:t>
            </a:r>
            <a:endParaRPr/>
          </a:p>
        </p:txBody>
      </p:sp>
      <p:pic>
        <p:nvPicPr>
          <p:cNvPr id="300" name="Google Shape;300;p52"/>
          <p:cNvPicPr preferRelativeResize="0"/>
          <p:nvPr/>
        </p:nvPicPr>
        <p:blipFill>
          <a:blip r:embed="rId3">
            <a:alphaModFix/>
          </a:blip>
          <a:stretch>
            <a:fillRect/>
          </a:stretch>
        </p:blipFill>
        <p:spPr>
          <a:xfrm>
            <a:off x="1251273" y="825473"/>
            <a:ext cx="6641472" cy="4092375"/>
          </a:xfrm>
          <a:prstGeom prst="rect">
            <a:avLst/>
          </a:prstGeom>
          <a:noFill/>
          <a:ln>
            <a:noFill/>
          </a:ln>
        </p:spPr>
      </p:pic>
      <p:sp>
        <p:nvSpPr>
          <p:cNvPr id="301" name="Google Shape;301;p52"/>
          <p:cNvSpPr/>
          <p:nvPr/>
        </p:nvSpPr>
        <p:spPr>
          <a:xfrm rot="10800000" flipH="1">
            <a:off x="7110950" y="2683100"/>
            <a:ext cx="490200" cy="1965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2"/>
          <p:cNvSpPr txBox="1"/>
          <p:nvPr/>
        </p:nvSpPr>
        <p:spPr>
          <a:xfrm>
            <a:off x="7110950" y="2833925"/>
            <a:ext cx="490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000">
                <a:latin typeface="Roboto"/>
                <a:ea typeface="Roboto"/>
                <a:cs typeface="Roboto"/>
                <a:sym typeface="Roboto"/>
              </a:rPr>
              <a:t>2009</a:t>
            </a:r>
            <a:endParaRPr sz="10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3"/>
          <p:cNvSpPr txBox="1">
            <a:spLocks noGrp="1"/>
          </p:cNvSpPr>
          <p:nvPr>
            <p:ph type="body" idx="1"/>
          </p:nvPr>
        </p:nvSpPr>
        <p:spPr>
          <a:xfrm>
            <a:off x="968650" y="2778675"/>
            <a:ext cx="6352500" cy="1931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t>As we can see from the graph, as FDI increases, the poverty sees a downflow due to money being injected into the economy to promote growth.</a:t>
            </a:r>
            <a:br>
              <a:rPr lang="en-GB"/>
            </a:br>
            <a:r>
              <a:rPr lang="en-GB"/>
              <a:t>In 2009, due to great economic depression, FDI inflow decreased a lot in the country, but still poverty continued to decrease because of the other factors into play. </a:t>
            </a:r>
            <a:endParaRPr/>
          </a:p>
        </p:txBody>
      </p:sp>
      <p:pic>
        <p:nvPicPr>
          <p:cNvPr id="308" name="Google Shape;308;p53"/>
          <p:cNvPicPr preferRelativeResize="0"/>
          <p:nvPr/>
        </p:nvPicPr>
        <p:blipFill>
          <a:blip r:embed="rId3">
            <a:alphaModFix/>
          </a:blip>
          <a:stretch>
            <a:fillRect/>
          </a:stretch>
        </p:blipFill>
        <p:spPr>
          <a:xfrm>
            <a:off x="2285879" y="70199"/>
            <a:ext cx="4059750" cy="2501550"/>
          </a:xfrm>
          <a:prstGeom prst="rect">
            <a:avLst/>
          </a:prstGeom>
          <a:noFill/>
          <a:ln>
            <a:noFill/>
          </a:ln>
        </p:spPr>
      </p:pic>
      <p:sp>
        <p:nvSpPr>
          <p:cNvPr id="309" name="Google Shape;309;p53"/>
          <p:cNvSpPr/>
          <p:nvPr/>
        </p:nvSpPr>
        <p:spPr>
          <a:xfrm rot="10800000" flipH="1">
            <a:off x="5785900" y="1252338"/>
            <a:ext cx="376200" cy="1446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53"/>
          <p:cNvSpPr txBox="1"/>
          <p:nvPr/>
        </p:nvSpPr>
        <p:spPr>
          <a:xfrm>
            <a:off x="5785900" y="1363350"/>
            <a:ext cx="4548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latin typeface="Roboto"/>
                <a:ea typeface="Roboto"/>
                <a:cs typeface="Roboto"/>
                <a:sym typeface="Roboto"/>
              </a:rPr>
              <a:t>2009</a:t>
            </a:r>
            <a:endParaRPr sz="800">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4"/>
          <p:cNvSpPr txBox="1">
            <a:spLocks noGrp="1"/>
          </p:cNvSpPr>
          <p:nvPr>
            <p:ph type="title"/>
          </p:nvPr>
        </p:nvSpPr>
        <p:spPr>
          <a:xfrm>
            <a:off x="311700" y="353000"/>
            <a:ext cx="8520600" cy="607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a:t>Relationship Between Financial Credit and Poverty</a:t>
            </a:r>
            <a:endParaRPr b="1"/>
          </a:p>
        </p:txBody>
      </p:sp>
      <p:pic>
        <p:nvPicPr>
          <p:cNvPr id="316" name="Google Shape;316;p54"/>
          <p:cNvPicPr preferRelativeResize="0"/>
          <p:nvPr/>
        </p:nvPicPr>
        <p:blipFill>
          <a:blip r:embed="rId3">
            <a:alphaModFix/>
          </a:blip>
          <a:stretch>
            <a:fillRect/>
          </a:stretch>
        </p:blipFill>
        <p:spPr>
          <a:xfrm>
            <a:off x="1717109" y="1249929"/>
            <a:ext cx="5709774" cy="35182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5"/>
          <p:cNvSpPr txBox="1">
            <a:spLocks noGrp="1"/>
          </p:cNvSpPr>
          <p:nvPr>
            <p:ph type="title"/>
          </p:nvPr>
        </p:nvSpPr>
        <p:spPr>
          <a:xfrm>
            <a:off x="311700" y="6095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R and STATA Codes</a:t>
            </a:r>
            <a:endParaRPr b="1"/>
          </a:p>
        </p:txBody>
      </p:sp>
      <p:pic>
        <p:nvPicPr>
          <p:cNvPr id="322" name="Google Shape;322;p55"/>
          <p:cNvPicPr preferRelativeResize="0"/>
          <p:nvPr/>
        </p:nvPicPr>
        <p:blipFill>
          <a:blip r:embed="rId3">
            <a:alphaModFix/>
          </a:blip>
          <a:stretch>
            <a:fillRect/>
          </a:stretch>
        </p:blipFill>
        <p:spPr>
          <a:xfrm>
            <a:off x="378675" y="575100"/>
            <a:ext cx="6631301" cy="52083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6"/>
          <p:cNvSpPr txBox="1">
            <a:spLocks noGrp="1"/>
          </p:cNvSpPr>
          <p:nvPr>
            <p:ph type="title"/>
          </p:nvPr>
        </p:nvSpPr>
        <p:spPr>
          <a:xfrm>
            <a:off x="311700" y="126550"/>
            <a:ext cx="8520600" cy="6078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GB" b="1" u="sng"/>
              <a:t>References</a:t>
            </a:r>
            <a:endParaRPr/>
          </a:p>
        </p:txBody>
      </p:sp>
      <p:sp>
        <p:nvSpPr>
          <p:cNvPr id="328" name="Google Shape;328;p56"/>
          <p:cNvSpPr txBox="1">
            <a:spLocks noGrp="1"/>
          </p:cNvSpPr>
          <p:nvPr>
            <p:ph type="body" idx="1"/>
          </p:nvPr>
        </p:nvSpPr>
        <p:spPr>
          <a:xfrm>
            <a:off x="311700" y="793175"/>
            <a:ext cx="8696400" cy="3567300"/>
          </a:xfrm>
          <a:prstGeom prst="rect">
            <a:avLst/>
          </a:prstGeom>
          <a:noFill/>
          <a:ln>
            <a:noFill/>
          </a:ln>
        </p:spPr>
        <p:txBody>
          <a:bodyPr spcFirstLastPara="1" wrap="square" lIns="91425" tIns="91425" rIns="91425" bIns="91425" anchor="t" anchorCtr="0">
            <a:normAutofit fontScale="92500" lnSpcReduction="10000"/>
          </a:bodyPr>
          <a:lstStyle/>
          <a:p>
            <a:pPr marL="0" marR="0" lvl="0" indent="0" algn="just" rtl="0">
              <a:spcBef>
                <a:spcPts val="1200"/>
              </a:spcBef>
              <a:spcAft>
                <a:spcPts val="0"/>
              </a:spcAft>
              <a:buNone/>
            </a:pPr>
            <a:r>
              <a:rPr lang="en-GB" sz="1500" b="1">
                <a:solidFill>
                  <a:srgbClr val="000000"/>
                </a:solidFill>
                <a:latin typeface="Arial"/>
                <a:ea typeface="Arial"/>
                <a:cs typeface="Arial"/>
                <a:sym typeface="Arial"/>
              </a:rPr>
              <a:t>Base Paper</a:t>
            </a:r>
            <a:endParaRPr sz="1500" b="1">
              <a:solidFill>
                <a:srgbClr val="000000"/>
              </a:solidFill>
              <a:latin typeface="Arial"/>
              <a:ea typeface="Arial"/>
              <a:cs typeface="Arial"/>
              <a:sym typeface="Arial"/>
            </a:endParaRPr>
          </a:p>
          <a:p>
            <a:pPr marL="0" marR="0" lvl="0" indent="0" algn="just" rtl="0">
              <a:spcBef>
                <a:spcPts val="1200"/>
              </a:spcBef>
              <a:spcAft>
                <a:spcPts val="0"/>
              </a:spcAft>
              <a:buNone/>
            </a:pPr>
            <a:r>
              <a:rPr lang="en-GB" sz="1400" b="1">
                <a:solidFill>
                  <a:srgbClr val="000000"/>
                </a:solidFill>
                <a:latin typeface="Arial"/>
                <a:ea typeface="Arial"/>
                <a:cs typeface="Arial"/>
                <a:sym typeface="Arial"/>
              </a:rPr>
              <a:t>“Foreign Aid, Growth and Poverty Relation: A Quantile Regression Approach”, </a:t>
            </a:r>
            <a:r>
              <a:rPr lang="en-GB" sz="1400" i="1">
                <a:solidFill>
                  <a:srgbClr val="000000"/>
                </a:solidFill>
                <a:latin typeface="Arial"/>
                <a:ea typeface="Arial"/>
                <a:cs typeface="Arial"/>
                <a:sym typeface="Arial"/>
              </a:rPr>
              <a:t>The Journal of Developing Areas, </a:t>
            </a:r>
            <a:r>
              <a:rPr lang="en-GB" sz="1400">
                <a:solidFill>
                  <a:srgbClr val="000000"/>
                </a:solidFill>
                <a:latin typeface="Arial"/>
                <a:ea typeface="Arial"/>
                <a:cs typeface="Arial"/>
                <a:sym typeface="Arial"/>
              </a:rPr>
              <a:t>Summer 2014, Vol. 48, No.3(Summer 2014), pp. 381-403</a:t>
            </a:r>
            <a:endParaRPr sz="1400">
              <a:solidFill>
                <a:srgbClr val="000000"/>
              </a:solidFill>
              <a:latin typeface="Arial"/>
              <a:ea typeface="Arial"/>
              <a:cs typeface="Arial"/>
              <a:sym typeface="Arial"/>
            </a:endParaRPr>
          </a:p>
          <a:p>
            <a:pPr marL="0" marR="0" lvl="0" indent="0" algn="just" rtl="0">
              <a:spcBef>
                <a:spcPts val="1200"/>
              </a:spcBef>
              <a:spcAft>
                <a:spcPts val="0"/>
              </a:spcAft>
              <a:buNone/>
            </a:pPr>
            <a:r>
              <a:rPr lang="en-GB" sz="1500" b="1">
                <a:solidFill>
                  <a:srgbClr val="000000"/>
                </a:solidFill>
                <a:latin typeface="Arial"/>
                <a:ea typeface="Arial"/>
                <a:cs typeface="Arial"/>
                <a:sym typeface="Arial"/>
              </a:rPr>
              <a:t>Reference Paper</a:t>
            </a:r>
            <a:endParaRPr sz="1500" b="1">
              <a:solidFill>
                <a:srgbClr val="000000"/>
              </a:solidFill>
              <a:latin typeface="Arial"/>
              <a:ea typeface="Arial"/>
              <a:cs typeface="Arial"/>
              <a:sym typeface="Arial"/>
            </a:endParaRPr>
          </a:p>
          <a:p>
            <a:pPr marL="0" marR="0" lvl="0" indent="0" algn="just" rtl="0">
              <a:spcBef>
                <a:spcPts val="1200"/>
              </a:spcBef>
              <a:spcAft>
                <a:spcPts val="0"/>
              </a:spcAft>
              <a:buNone/>
            </a:pPr>
            <a:r>
              <a:rPr lang="en-GB" sz="1400">
                <a:solidFill>
                  <a:srgbClr val="000000"/>
                </a:solidFill>
                <a:latin typeface="Arial"/>
                <a:ea typeface="Arial"/>
                <a:cs typeface="Arial"/>
                <a:sym typeface="Arial"/>
              </a:rPr>
              <a:t>"</a:t>
            </a:r>
            <a:r>
              <a:rPr lang="en-GB" sz="1400" b="1">
                <a:solidFill>
                  <a:srgbClr val="000000"/>
                </a:solidFill>
                <a:latin typeface="Arial"/>
                <a:ea typeface="Arial"/>
                <a:cs typeface="Arial"/>
                <a:sym typeface="Arial"/>
              </a:rPr>
              <a:t>Do international migration and remittances reduce poverty in developing countries?</a:t>
            </a:r>
            <a:r>
              <a:rPr lang="en-GB" sz="1400">
                <a:solidFill>
                  <a:srgbClr val="000000"/>
                </a:solidFill>
                <a:latin typeface="Arial"/>
                <a:ea typeface="Arial"/>
                <a:cs typeface="Arial"/>
                <a:sym typeface="Arial"/>
              </a:rPr>
              <a:t>”, </a:t>
            </a:r>
            <a:r>
              <a:rPr lang="en-GB" sz="1400" i="1">
                <a:solidFill>
                  <a:srgbClr val="000000"/>
                </a:solidFill>
                <a:latin typeface="Arial"/>
                <a:ea typeface="Arial"/>
                <a:cs typeface="Arial"/>
                <a:sym typeface="Arial"/>
              </a:rPr>
              <a:t>World Development, </a:t>
            </a:r>
            <a:r>
              <a:rPr lang="en-GB" sz="1400">
                <a:solidFill>
                  <a:srgbClr val="000000"/>
                </a:solidFill>
                <a:latin typeface="Arial"/>
                <a:ea typeface="Arial"/>
                <a:cs typeface="Arial"/>
                <a:sym typeface="Arial"/>
              </a:rPr>
              <a:t>2005, Vol. 33, No. 10, pp 1645-1669.</a:t>
            </a:r>
            <a:endParaRPr sz="1400">
              <a:solidFill>
                <a:srgbClr val="000000"/>
              </a:solidFill>
              <a:latin typeface="Arial"/>
              <a:ea typeface="Arial"/>
              <a:cs typeface="Arial"/>
              <a:sym typeface="Arial"/>
            </a:endParaRPr>
          </a:p>
          <a:p>
            <a:pPr marL="0" marR="0" lvl="0" indent="0" algn="just" rtl="0">
              <a:spcBef>
                <a:spcPts val="1200"/>
              </a:spcBef>
              <a:spcAft>
                <a:spcPts val="0"/>
              </a:spcAft>
              <a:buNone/>
            </a:pPr>
            <a:r>
              <a:rPr lang="en-GB" sz="1400">
                <a:solidFill>
                  <a:srgbClr val="000000"/>
                </a:solidFill>
                <a:latin typeface="Arial"/>
                <a:ea typeface="Arial"/>
                <a:cs typeface="Arial"/>
                <a:sym typeface="Arial"/>
              </a:rPr>
              <a:t>“</a:t>
            </a:r>
            <a:r>
              <a:rPr lang="en-GB" sz="1400" b="1">
                <a:solidFill>
                  <a:srgbClr val="000000"/>
                </a:solidFill>
                <a:latin typeface="Arial"/>
                <a:ea typeface="Arial"/>
                <a:cs typeface="Arial"/>
                <a:sym typeface="Arial"/>
              </a:rPr>
              <a:t>Does Foreign Aid reduce Poverty?</a:t>
            </a:r>
            <a:r>
              <a:rPr lang="en-GB" sz="1400">
                <a:solidFill>
                  <a:srgbClr val="000000"/>
                </a:solidFill>
                <a:latin typeface="Arial"/>
                <a:ea typeface="Arial"/>
                <a:cs typeface="Arial"/>
                <a:sym typeface="Arial"/>
              </a:rPr>
              <a:t>”, </a:t>
            </a:r>
            <a:r>
              <a:rPr lang="en-GB" sz="1400" i="1">
                <a:solidFill>
                  <a:srgbClr val="000000"/>
                </a:solidFill>
                <a:latin typeface="Arial"/>
                <a:ea typeface="Arial"/>
                <a:cs typeface="Arial"/>
                <a:sym typeface="Arial"/>
              </a:rPr>
              <a:t>Journal of International Development</a:t>
            </a:r>
            <a:r>
              <a:rPr lang="en-GB" sz="1400">
                <a:solidFill>
                  <a:srgbClr val="000000"/>
                </a:solidFill>
                <a:latin typeface="Arial"/>
                <a:ea typeface="Arial"/>
                <a:cs typeface="Arial"/>
                <a:sym typeface="Arial"/>
              </a:rPr>
              <a:t>, 2012, Vol. 24, Issue 8, pp. 955-976.</a:t>
            </a:r>
            <a:endParaRPr sz="1400">
              <a:solidFill>
                <a:srgbClr val="000000"/>
              </a:solidFill>
              <a:latin typeface="Arial"/>
              <a:ea typeface="Arial"/>
              <a:cs typeface="Arial"/>
              <a:sym typeface="Arial"/>
            </a:endParaRPr>
          </a:p>
          <a:p>
            <a:pPr marL="0" marR="0" lvl="0" indent="0" algn="just" rtl="0">
              <a:spcBef>
                <a:spcPts val="1200"/>
              </a:spcBef>
              <a:spcAft>
                <a:spcPts val="0"/>
              </a:spcAft>
              <a:buNone/>
            </a:pPr>
            <a:r>
              <a:rPr lang="en-GB" sz="1400">
                <a:solidFill>
                  <a:srgbClr val="000000"/>
                </a:solidFill>
                <a:latin typeface="Arial"/>
                <a:ea typeface="Arial"/>
                <a:cs typeface="Arial"/>
                <a:sym typeface="Arial"/>
              </a:rPr>
              <a:t>“</a:t>
            </a:r>
            <a:r>
              <a:rPr lang="en-GB" sz="1400" b="1">
                <a:solidFill>
                  <a:srgbClr val="000000"/>
                </a:solidFill>
                <a:latin typeface="Arial"/>
                <a:ea typeface="Arial"/>
                <a:cs typeface="Arial"/>
                <a:sym typeface="Arial"/>
              </a:rPr>
              <a:t>Aid, growth and development: Have we come full circle?</a:t>
            </a:r>
            <a:r>
              <a:rPr lang="en-GB" sz="1400">
                <a:solidFill>
                  <a:srgbClr val="000000"/>
                </a:solidFill>
                <a:latin typeface="Arial"/>
                <a:ea typeface="Arial"/>
                <a:cs typeface="Arial"/>
                <a:sym typeface="Arial"/>
              </a:rPr>
              <a:t>”, </a:t>
            </a:r>
            <a:r>
              <a:rPr lang="en-GB" sz="1400" i="1">
                <a:solidFill>
                  <a:srgbClr val="000000"/>
                </a:solidFill>
                <a:latin typeface="Arial"/>
                <a:ea typeface="Arial"/>
                <a:cs typeface="Arial"/>
                <a:sym typeface="Arial"/>
              </a:rPr>
              <a:t>Journal of Globalization and Development, </a:t>
            </a:r>
            <a:r>
              <a:rPr lang="en-GB" sz="1400">
                <a:solidFill>
                  <a:srgbClr val="000000"/>
                </a:solidFill>
                <a:latin typeface="Arial"/>
                <a:ea typeface="Arial"/>
                <a:cs typeface="Arial"/>
                <a:sym typeface="Arial"/>
              </a:rPr>
              <a:t>2010, Vol. 1, Issue 2, pp. 1-29</a:t>
            </a:r>
            <a:endParaRPr sz="1400">
              <a:solidFill>
                <a:srgbClr val="000000"/>
              </a:solidFill>
              <a:latin typeface="Arial"/>
              <a:ea typeface="Arial"/>
              <a:cs typeface="Arial"/>
              <a:sym typeface="Arial"/>
            </a:endParaRPr>
          </a:p>
          <a:p>
            <a:pPr marL="0" marR="0" lvl="0" indent="0" algn="just" rtl="0">
              <a:spcBef>
                <a:spcPts val="1200"/>
              </a:spcBef>
              <a:spcAft>
                <a:spcPts val="0"/>
              </a:spcAft>
              <a:buNone/>
            </a:pPr>
            <a:r>
              <a:rPr lang="en-GB" sz="1400">
                <a:solidFill>
                  <a:srgbClr val="000000"/>
                </a:solidFill>
                <a:latin typeface="Arial"/>
                <a:ea typeface="Arial"/>
                <a:cs typeface="Arial"/>
                <a:sym typeface="Arial"/>
              </a:rPr>
              <a:t>“</a:t>
            </a:r>
            <a:r>
              <a:rPr lang="en-GB" sz="1400" b="1">
                <a:solidFill>
                  <a:srgbClr val="000000"/>
                </a:solidFill>
                <a:latin typeface="Arial"/>
                <a:ea typeface="Arial"/>
                <a:cs typeface="Arial"/>
                <a:sym typeface="Arial"/>
              </a:rPr>
              <a:t>Halving Global Poverty</a:t>
            </a:r>
            <a:r>
              <a:rPr lang="en-GB" sz="1400">
                <a:solidFill>
                  <a:srgbClr val="000000"/>
                </a:solidFill>
                <a:latin typeface="Arial"/>
                <a:ea typeface="Arial"/>
                <a:cs typeface="Arial"/>
                <a:sym typeface="Arial"/>
              </a:rPr>
              <a:t>”, </a:t>
            </a:r>
            <a:r>
              <a:rPr lang="en-GB" sz="1400" i="1">
                <a:solidFill>
                  <a:srgbClr val="000000"/>
                </a:solidFill>
                <a:latin typeface="Arial"/>
                <a:ea typeface="Arial"/>
                <a:cs typeface="Arial"/>
                <a:sym typeface="Arial"/>
              </a:rPr>
              <a:t>The Journal of Economic Perspectives, </a:t>
            </a:r>
            <a:r>
              <a:rPr lang="en-GB" sz="1400">
                <a:solidFill>
                  <a:srgbClr val="000000"/>
                </a:solidFill>
                <a:latin typeface="Arial"/>
                <a:ea typeface="Arial"/>
                <a:cs typeface="Arial"/>
                <a:sym typeface="Arial"/>
              </a:rPr>
              <a:t>2003, Vol. 17, No. 3, pp. 3-22.</a:t>
            </a:r>
            <a:endParaRPr sz="1400">
              <a:solidFill>
                <a:srgbClr val="000000"/>
              </a:solidFill>
              <a:latin typeface="Arial"/>
              <a:ea typeface="Arial"/>
              <a:cs typeface="Arial"/>
              <a:sym typeface="Arial"/>
            </a:endParaRPr>
          </a:p>
          <a:p>
            <a:pPr marL="0" marR="0" lvl="0" indent="0" algn="just" rtl="0">
              <a:spcBef>
                <a:spcPts val="1200"/>
              </a:spcBef>
              <a:spcAft>
                <a:spcPts val="1200"/>
              </a:spcAft>
              <a:buNone/>
            </a:pPr>
            <a:endParaRPr sz="1500" b="1">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2027</Words>
  <Application>Microsoft Office PowerPoint</Application>
  <PresentationFormat>On-screen Show (16:9)</PresentationFormat>
  <Paragraphs>91</Paragraphs>
  <Slides>32</Slides>
  <Notes>32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32</vt:i4>
      </vt:variant>
    </vt:vector>
  </HeadingPairs>
  <TitlesOfParts>
    <vt:vector size="37" baseType="lpstr">
      <vt:lpstr>Roboto</vt:lpstr>
      <vt:lpstr>Arial</vt:lpstr>
      <vt:lpstr>Times New Roman</vt:lpstr>
      <vt:lpstr>Simple Light</vt:lpstr>
      <vt:lpstr>Geometric</vt:lpstr>
      <vt:lpstr> THE EFFECTS OF GROWTH , FOREIGN AID AND FINANCIAL DEVELOPMENT ON POVERTY</vt:lpstr>
      <vt:lpstr>Introduction</vt:lpstr>
      <vt:lpstr>Literature Review</vt:lpstr>
      <vt:lpstr>Literature Review</vt:lpstr>
      <vt:lpstr>Objective</vt:lpstr>
      <vt:lpstr>Data Source and Coverage</vt:lpstr>
      <vt:lpstr>Model Specification</vt:lpstr>
      <vt:lpstr>Data Source and Coverage</vt:lpstr>
      <vt:lpstr>Data</vt:lpstr>
      <vt:lpstr>Summary Statistics</vt:lpstr>
      <vt:lpstr>Correlation Map</vt:lpstr>
      <vt:lpstr>PowerPoint Presentation</vt:lpstr>
      <vt:lpstr>Hypothesis</vt:lpstr>
      <vt:lpstr> Econometric Methodology</vt:lpstr>
      <vt:lpstr> Econometric Methodology</vt:lpstr>
      <vt:lpstr>Results and conclusions </vt:lpstr>
      <vt:lpstr>Changes in Poverty over Time</vt:lpstr>
      <vt:lpstr>Relationship Between GDP and Poverty</vt:lpstr>
      <vt:lpstr>PowerPoint Presentation</vt:lpstr>
      <vt:lpstr>Relationship Between Mean Annual Income and Poverty</vt:lpstr>
      <vt:lpstr>PowerPoint Presentation</vt:lpstr>
      <vt:lpstr>Relationship Between Financial Aid and Poverty</vt:lpstr>
      <vt:lpstr>PowerPoint Presentation</vt:lpstr>
      <vt:lpstr>Relationship Between Openness to Trade and Poverty </vt:lpstr>
      <vt:lpstr>PowerPoint Presentation</vt:lpstr>
      <vt:lpstr>Relationship Between Age Dependency Ratio and Poverty</vt:lpstr>
      <vt:lpstr>PowerPoint Presentation</vt:lpstr>
      <vt:lpstr>Relationship Between Foreign Direct Investment and Poverty</vt:lpstr>
      <vt:lpstr>PowerPoint Presentation</vt:lpstr>
      <vt:lpstr>Relationship Between Financial Credit and Poverty</vt:lpstr>
      <vt:lpstr>R and STATA Codes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EFFECTS OF GROWTH , FOREIGN AID AND FINANCIAL DEVELOPMENT ON POVERTY</dc:title>
  <cp:lastModifiedBy>Divyansh Gupta</cp:lastModifiedBy>
  <cp:revision>1</cp:revision>
  <dcterms:modified xsi:type="dcterms:W3CDTF">2023-04-21T10:51:48Z</dcterms:modified>
</cp:coreProperties>
</file>